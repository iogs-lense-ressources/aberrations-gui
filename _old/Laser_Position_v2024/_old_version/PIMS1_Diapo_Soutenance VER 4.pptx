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xvtCq0VO0trYitN38sbpB9oQi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0953C6-97C0-4094-86B7-4153C51084DC}">
  <a:tblStyle styleId="{420953C6-97C0-4094-86B7-4153C51084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4a8e5d1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4a8e5d13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a4a8e5d13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386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2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e image contenant extérieur, herbe, eau, assis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 t="1653" r="-1" b="-1"/>
          <a:stretch/>
        </p:blipFill>
        <p:spPr>
          <a:xfrm>
            <a:off x="20" y="10"/>
            <a:ext cx="4637226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4637247" y="0"/>
            <a:ext cx="755475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5277327" y="95177"/>
            <a:ext cx="6686073" cy="260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fr-FR">
                <a:solidFill>
                  <a:schemeClr val="lt1"/>
                </a:solidFill>
              </a:rPr>
              <a:t>PIMS 2020-2021: Asservissement laser</a:t>
            </a:r>
            <a:endParaRPr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5277327" y="3124200"/>
            <a:ext cx="6274592" cy="3093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fr-FR" sz="2000" b="1" i="1" u="sng">
                <a:solidFill>
                  <a:schemeClr val="lt1"/>
                </a:solidFill>
              </a:rPr>
              <a:t>Etudiants 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fr-FR" sz="2000">
                <a:solidFill>
                  <a:schemeClr val="lt1"/>
                </a:solidFill>
              </a:rPr>
              <a:t>Igor Reshetnikov</a:t>
            </a:r>
            <a:endParaRPr sz="2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fr-FR" sz="2000">
                <a:solidFill>
                  <a:schemeClr val="lt1"/>
                </a:solidFill>
              </a:rPr>
              <a:t>Théo Martin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fr-FR" sz="2000">
                <a:solidFill>
                  <a:schemeClr val="lt1"/>
                </a:solidFill>
              </a:rPr>
              <a:t>Simon Steinlin</a:t>
            </a:r>
            <a:endParaRPr sz="2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fr-FR" sz="2000">
                <a:solidFill>
                  <a:schemeClr val="lt1"/>
                </a:solidFill>
              </a:rPr>
              <a:t>Guillaume Huber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fr-FR" sz="2000">
                <a:solidFill>
                  <a:schemeClr val="lt1"/>
                </a:solidFill>
              </a:rPr>
              <a:t>Cyrille Des Cognets</a:t>
            </a:r>
            <a:endParaRPr sz="2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solidFill>
                <a:schemeClr val="lt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937500" y="3106366"/>
            <a:ext cx="30861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1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Encadrants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Julien Villemejane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Caroline Kulcsar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 descr="Une image contenant texte&#10;&#10;Description générée automatiqueme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51178" y="5655111"/>
            <a:ext cx="1813854" cy="8828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>
            <a:spLocks noGrp="1"/>
          </p:cNvSpPr>
          <p:nvPr>
            <p:ph type="sldNum" idx="12"/>
          </p:nvPr>
        </p:nvSpPr>
        <p:spPr>
          <a:xfrm>
            <a:off x="8610599" y="6235756"/>
            <a:ext cx="2941319" cy="4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/>
              <a:t>1</a:t>
            </a:fld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01455" y="3918874"/>
            <a:ext cx="8301075" cy="242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6075497" y="1177245"/>
            <a:ext cx="5722617" cy="182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fr-FR" sz="4800"/>
              <a:t>Présentation du montage actuel</a:t>
            </a:r>
            <a:endParaRPr/>
          </a:p>
        </p:txBody>
      </p:sp>
      <p:pic>
        <p:nvPicPr>
          <p:cNvPr id="101" name="Google Shape;101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51222" y="260389"/>
            <a:ext cx="5019859" cy="3901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pic>
        <p:nvPicPr>
          <p:cNvPr id="103" name="Google Shape;103;p2" descr="Une image contenant bleu, signe, horloge&#10;&#10;Description générée automatique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0609" y="451458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838200" y="321013"/>
            <a:ext cx="10515600" cy="83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Correction du système</a:t>
            </a:r>
            <a:endParaRPr/>
          </a:p>
        </p:txBody>
      </p:sp>
      <p:pic>
        <p:nvPicPr>
          <p:cNvPr id="109" name="Google Shape;10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511585"/>
            <a:ext cx="10515600" cy="331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l="32386" t="35063" r="34318" b="38873"/>
          <a:stretch/>
        </p:blipFill>
        <p:spPr>
          <a:xfrm>
            <a:off x="4140740" y="4931924"/>
            <a:ext cx="3910520" cy="17217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Problématique 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838200" y="23701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Performance limitée avec un PI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Paramètres non quantifiés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Manque de repère sur certains réglages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202703" y="5041555"/>
            <a:ext cx="2034746" cy="41189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4553465" y="4955114"/>
            <a:ext cx="60465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Correction numérique</a:t>
            </a:r>
            <a:endParaRPr/>
          </a:p>
        </p:txBody>
      </p:sp>
      <p:sp>
        <p:nvSpPr>
          <p:cNvPr id="120" name="Google Shape;1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4a8e5d130_0_0"/>
          <p:cNvSpPr txBox="1">
            <a:spLocks noGrp="1"/>
          </p:cNvSpPr>
          <p:nvPr>
            <p:ph type="title"/>
          </p:nvPr>
        </p:nvSpPr>
        <p:spPr>
          <a:xfrm>
            <a:off x="2080950" y="158275"/>
            <a:ext cx="80301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Principe de fonctionnement du montage envisagé</a:t>
            </a:r>
            <a:endParaRPr/>
          </a:p>
        </p:txBody>
      </p:sp>
      <p:sp>
        <p:nvSpPr>
          <p:cNvPr id="127" name="Google Shape;127;ga4a8e5d130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28" name="Google Shape;128;ga4a8e5d130_0_0"/>
          <p:cNvSpPr txBox="1"/>
          <p:nvPr/>
        </p:nvSpPr>
        <p:spPr>
          <a:xfrm>
            <a:off x="2843750" y="5223725"/>
            <a:ext cx="1880700" cy="681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Photodiode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a4a8e5d130_0_0"/>
          <p:cNvSpPr txBox="1"/>
          <p:nvPr/>
        </p:nvSpPr>
        <p:spPr>
          <a:xfrm>
            <a:off x="963050" y="3592675"/>
            <a:ext cx="1880700" cy="681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a4a8e5d130_0_0"/>
          <p:cNvSpPr txBox="1"/>
          <p:nvPr/>
        </p:nvSpPr>
        <p:spPr>
          <a:xfrm>
            <a:off x="5118388" y="3365724"/>
            <a:ext cx="1880700" cy="11349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Traitement numérique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a4a8e5d130_0_0"/>
          <p:cNvSpPr txBox="1"/>
          <p:nvPr/>
        </p:nvSpPr>
        <p:spPr>
          <a:xfrm>
            <a:off x="7393025" y="5223725"/>
            <a:ext cx="1880700" cy="681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Moteurs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a4a8e5d130_0_0"/>
          <p:cNvSpPr txBox="1"/>
          <p:nvPr/>
        </p:nvSpPr>
        <p:spPr>
          <a:xfrm>
            <a:off x="9273725" y="3592675"/>
            <a:ext cx="1880700" cy="681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a4a8e5d130_0_0"/>
          <p:cNvSpPr txBox="1"/>
          <p:nvPr/>
        </p:nvSpPr>
        <p:spPr>
          <a:xfrm>
            <a:off x="5118400" y="1744475"/>
            <a:ext cx="1880700" cy="995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du PC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a4a8e5d130_0_0"/>
          <p:cNvSpPr/>
          <p:nvPr/>
        </p:nvSpPr>
        <p:spPr>
          <a:xfrm>
            <a:off x="2843750" y="3750625"/>
            <a:ext cx="2216400" cy="36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a4a8e5d130_0_0"/>
          <p:cNvSpPr/>
          <p:nvPr/>
        </p:nvSpPr>
        <p:spPr>
          <a:xfrm>
            <a:off x="7052550" y="3777575"/>
            <a:ext cx="2216400" cy="36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a4a8e5d130_0_0"/>
          <p:cNvSpPr/>
          <p:nvPr/>
        </p:nvSpPr>
        <p:spPr>
          <a:xfrm rot="-5400000" flipH="1">
            <a:off x="9032100" y="4524975"/>
            <a:ext cx="1507800" cy="10506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a4a8e5d130_0_0"/>
          <p:cNvSpPr/>
          <p:nvPr/>
        </p:nvSpPr>
        <p:spPr>
          <a:xfrm flipH="1">
            <a:off x="1507850" y="4296375"/>
            <a:ext cx="1335900" cy="14154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a4a8e5d130_0_0"/>
          <p:cNvSpPr/>
          <p:nvPr/>
        </p:nvSpPr>
        <p:spPr>
          <a:xfrm flipH="1">
            <a:off x="4724450" y="5381675"/>
            <a:ext cx="2668500" cy="36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a4a8e5d130_0_0"/>
          <p:cNvSpPr/>
          <p:nvPr/>
        </p:nvSpPr>
        <p:spPr>
          <a:xfrm>
            <a:off x="5917650" y="2739950"/>
            <a:ext cx="372900" cy="625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a4a8e5d130_0_0"/>
          <p:cNvSpPr txBox="1"/>
          <p:nvPr/>
        </p:nvSpPr>
        <p:spPr>
          <a:xfrm>
            <a:off x="6290550" y="2821025"/>
            <a:ext cx="1524000" cy="6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latin typeface="Calibri"/>
                <a:ea typeface="Calibri"/>
                <a:cs typeface="Calibri"/>
                <a:sym typeface="Calibri"/>
              </a:rPr>
              <a:t>Paramètres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a4a8e5d130_0_0"/>
          <p:cNvSpPr txBox="1"/>
          <p:nvPr/>
        </p:nvSpPr>
        <p:spPr>
          <a:xfrm>
            <a:off x="5868938" y="5711775"/>
            <a:ext cx="1524000" cy="6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latin typeface="Calibri"/>
                <a:ea typeface="Calibri"/>
                <a:cs typeface="Calibri"/>
                <a:sym typeface="Calibri"/>
              </a:rPr>
              <a:t>LASER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Interface, Choix du langage</a:t>
            </a:r>
            <a:endParaRPr/>
          </a:p>
        </p:txBody>
      </p:sp>
      <p:graphicFrame>
        <p:nvGraphicFramePr>
          <p:cNvPr id="147" name="Google Shape;147;p5"/>
          <p:cNvGraphicFramePr/>
          <p:nvPr/>
        </p:nvGraphicFramePr>
        <p:xfrm>
          <a:off x="953850" y="16175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{420953C6-97C0-4094-86B7-4153C51084DC}</a:tableStyleId>
              </a:tblPr>
              <a:tblGrid>
                <a:gridCol w="519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MATLAB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Python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Avantages :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Simple dans la création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et dans l’utilisation</a:t>
                      </a:r>
                      <a:endParaRPr sz="3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/>
                        <a:t>Tous les modules préinstallés</a:t>
                      </a:r>
                      <a:endParaRPr sz="3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Inconvénient : Licence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Avantages : -Universel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-Beaucoup de possibilités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3200" u="none" strike="noStrike" cap="none"/>
                        <a:t>Inconvénient: Modules à i</a:t>
                      </a:r>
                      <a:r>
                        <a:rPr lang="fr-FR" sz="3200"/>
                        <a:t>nstaller</a:t>
                      </a:r>
                      <a:r>
                        <a:rPr lang="fr-FR" sz="3200" u="none" strike="noStrike" cap="none"/>
                        <a:t> </a:t>
                      </a:r>
                      <a:r>
                        <a:rPr lang="fr-FR" sz="3200"/>
                        <a:t>et dépendant des versions (communication, interfaçage..)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Présentation (du début) de l’interface</a:t>
            </a:r>
            <a:endParaRPr/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6742" y="2847683"/>
            <a:ext cx="5280055" cy="305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53481" y="3657600"/>
            <a:ext cx="4994342" cy="157487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5477069" y="4086808"/>
            <a:ext cx="1017037" cy="82109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838200" y="1690688"/>
            <a:ext cx="472284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Ancienne « interface »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6739275" y="1692535"/>
            <a:ext cx="499498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Nouvelle interface sur ordinateur</a:t>
            </a:r>
            <a:endParaRPr/>
          </a:p>
        </p:txBody>
      </p:sp>
      <p:sp>
        <p:nvSpPr>
          <p:cNvPr id="159" name="Google Shape;15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Microcontrôleur – carte Nucleo</a:t>
            </a:r>
            <a:endParaRPr/>
          </a:p>
        </p:txBody>
      </p:sp>
      <p:pic>
        <p:nvPicPr>
          <p:cNvPr id="165" name="Google Shape;165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33027" y="1825625"/>
            <a:ext cx="5334000" cy="3916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3676908" y="5877242"/>
            <a:ext cx="483818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Carte Nucleo-64 STM32L476RG </a:t>
            </a:r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>
            <a:spLocks noGrp="1"/>
          </p:cNvSpPr>
          <p:nvPr>
            <p:ph type="title"/>
          </p:nvPr>
        </p:nvSpPr>
        <p:spPr>
          <a:xfrm>
            <a:off x="838200" y="-789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Protocole de communication</a:t>
            </a:r>
            <a:endParaRPr/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7018" y="1350226"/>
            <a:ext cx="5495238" cy="493333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/>
          <p:nvPr/>
        </p:nvSpPr>
        <p:spPr>
          <a:xfrm>
            <a:off x="9386092" y="1027906"/>
            <a:ext cx="11210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Detecteur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0387578" y="1557546"/>
            <a:ext cx="13692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coordinate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701481" y="2168803"/>
            <a:ext cx="13692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coordinate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86091" y="3911221"/>
            <a:ext cx="17136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Microcontrôleur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NUCLEO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096000" y="3617791"/>
            <a:ext cx="1210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Ordinateur</a:t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0340108" y="5818393"/>
            <a:ext cx="11544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moteurs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8220782" y="3617791"/>
            <a:ext cx="5277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647579" y="4557552"/>
            <a:ext cx="16741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 PID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K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K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66403" y="1417188"/>
            <a:ext cx="4954597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modèle de communication le PC et le microcontrôleur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détecteur mesure les coordonnées et les envoie au contrôleur NUCLEO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contrôleur envoie les données                 à l'ordinateur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L'utilisateur peut modifier le coefficient du régulateur PID via PC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contrôleur NUCLEO reçoit les nouveaux coefficients PID et contrôle les moteurs</a:t>
            </a: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Code de microcontrôleur </a:t>
            </a:r>
            <a:endParaRPr/>
          </a:p>
        </p:txBody>
      </p:sp>
      <p:pic>
        <p:nvPicPr>
          <p:cNvPr id="189" name="Google Shape;1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0313" y="1506836"/>
            <a:ext cx="5620534" cy="500132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624295" y="4210119"/>
            <a:ext cx="33758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LED is blinking each 2 seconds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68331" y="4898942"/>
            <a:ext cx="414286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un utilisateur appuie sur le bouton,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carte envoie l'état de la LED au PC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24295" y="2397779"/>
            <a:ext cx="474822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modèle de communication le plus simple</a:t>
            </a:r>
            <a:b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 la carte et le PC :</a:t>
            </a:r>
            <a:endParaRPr/>
          </a:p>
        </p:txBody>
      </p:sp>
      <p:cxnSp>
        <p:nvCxnSpPr>
          <p:cNvPr id="193" name="Google Shape;193;p9"/>
          <p:cNvCxnSpPr>
            <a:stCxn id="190" idx="3"/>
          </p:cNvCxnSpPr>
          <p:nvPr/>
        </p:nvCxnSpPr>
        <p:spPr>
          <a:xfrm rot="10800000" flipH="1">
            <a:off x="4000176" y="4385874"/>
            <a:ext cx="2637000" cy="243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4" name="Google Shape;194;p9"/>
          <p:cNvCxnSpPr>
            <a:stCxn id="191" idx="3"/>
          </p:cNvCxnSpPr>
          <p:nvPr/>
        </p:nvCxnSpPr>
        <p:spPr>
          <a:xfrm>
            <a:off x="4611196" y="5252885"/>
            <a:ext cx="2026200" cy="27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5" name="Google Shape;19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Code de MATLAB </a:t>
            </a:r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463" y="1690688"/>
            <a:ext cx="11749074" cy="393541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2773616" y="5779978"/>
            <a:ext cx="66447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code MATLAB pour recevoir et lire les données envoyées par carte</a:t>
            </a:r>
            <a:endParaRPr/>
          </a:p>
        </p:txBody>
      </p:sp>
      <p:sp>
        <p:nvSpPr>
          <p:cNvPr id="203" name="Google Shape;20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Adaptation de tension</a:t>
            </a:r>
            <a:endParaRPr/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l="10145" t="9811" r="7748" b="9056"/>
          <a:stretch/>
        </p:blipFill>
        <p:spPr>
          <a:xfrm>
            <a:off x="4720281" y="2141838"/>
            <a:ext cx="1565189" cy="177113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AC673D-EC44-4416-994F-8F8A6F161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755" y="1799121"/>
            <a:ext cx="6144482" cy="4448796"/>
          </a:xfrm>
          <a:prstGeom prst="rect">
            <a:avLst/>
          </a:prstGeom>
        </p:spPr>
      </p:pic>
      <p:pic>
        <p:nvPicPr>
          <p:cNvPr id="6" name="Google Shape;210;p11">
            <a:extLst>
              <a:ext uri="{FF2B5EF4-FFF2-40B4-BE49-F238E27FC236}">
                <a16:creationId xmlns:a16="http://schemas.microsoft.com/office/drawing/2014/main" id="{05B6FF23-E238-49F8-BBA6-EE50CC2149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145" t="9811" r="7748" b="9056"/>
          <a:stretch/>
        </p:blipFill>
        <p:spPr>
          <a:xfrm>
            <a:off x="7828005" y="2986923"/>
            <a:ext cx="1565189" cy="1771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Adaptation de tension</a:t>
            </a:r>
            <a:endParaRPr/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l="10145" t="9811" r="7748" b="9056"/>
          <a:stretch/>
        </p:blipFill>
        <p:spPr>
          <a:xfrm>
            <a:off x="407925" y="2799282"/>
            <a:ext cx="1565189" cy="177113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A6EBB7-F64A-472C-812E-804B2C961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134" y="2184453"/>
            <a:ext cx="9307224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14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Code nucléo</a:t>
            </a:r>
            <a:endParaRPr/>
          </a:p>
        </p:txBody>
      </p:sp>
      <p:pic>
        <p:nvPicPr>
          <p:cNvPr id="218" name="Google Shape;218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11195" y="1690688"/>
            <a:ext cx="8686800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Fréquences caractéristiques et Gain</a:t>
            </a:r>
            <a:endParaRPr/>
          </a:p>
        </p:txBody>
      </p:sp>
      <p:pic>
        <p:nvPicPr>
          <p:cNvPr id="225" name="Google Shape;225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3842" y="2047354"/>
            <a:ext cx="5693623" cy="341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9398" y="1690688"/>
            <a:ext cx="4144590" cy="2486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9398" y="4220151"/>
            <a:ext cx="4144591" cy="248675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3"/>
          <p:cNvSpPr txBox="1"/>
          <p:nvPr/>
        </p:nvSpPr>
        <p:spPr>
          <a:xfrm>
            <a:off x="6809398" y="1364065"/>
            <a:ext cx="41445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une amplitude d’entrée de 70mV</a:t>
            </a:r>
            <a:endParaRPr/>
          </a:p>
        </p:txBody>
      </p:sp>
      <p:cxnSp>
        <p:nvCxnSpPr>
          <p:cNvPr id="229" name="Google Shape;229;p13"/>
          <p:cNvCxnSpPr/>
          <p:nvPr/>
        </p:nvCxnSpPr>
        <p:spPr>
          <a:xfrm rot="10800000">
            <a:off x="6634065" y="2808514"/>
            <a:ext cx="0" cy="25192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0" name="Google Shape;230;p13"/>
          <p:cNvSpPr txBox="1"/>
          <p:nvPr/>
        </p:nvSpPr>
        <p:spPr>
          <a:xfrm>
            <a:off x="6311185" y="2921941"/>
            <a:ext cx="4105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8V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11019453" y="1875453"/>
            <a:ext cx="106369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Tension en sortie de la photodiode en appliquant une tension sur les miroirs au cours du temps</a:t>
            </a:r>
            <a:endParaRPr/>
          </a:p>
        </p:txBody>
      </p:sp>
      <p:sp>
        <p:nvSpPr>
          <p:cNvPr id="232" name="Google Shape;232;p13"/>
          <p:cNvSpPr txBox="1"/>
          <p:nvPr/>
        </p:nvSpPr>
        <p:spPr>
          <a:xfrm>
            <a:off x="11084767" y="4814596"/>
            <a:ext cx="8957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F_c=650Hz</a:t>
            </a:r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Simulation sur Matlab </a:t>
            </a:r>
            <a:endParaRPr/>
          </a:p>
        </p:txBody>
      </p:sp>
      <p:pic>
        <p:nvPicPr>
          <p:cNvPr id="239" name="Google Shape;23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475" y="3623325"/>
            <a:ext cx="6334599" cy="22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6644077" y="2080492"/>
            <a:ext cx="4352925" cy="326469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pic>
        <p:nvPicPr>
          <p:cNvPr id="242" name="Google Shape;242;p14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512475" y="1536375"/>
            <a:ext cx="6232800" cy="186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Correction PI</a:t>
            </a:r>
            <a:endParaRPr/>
          </a:p>
        </p:txBody>
      </p:sp>
      <p:pic>
        <p:nvPicPr>
          <p:cNvPr id="248" name="Google Shape;24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1718" y="2330403"/>
            <a:ext cx="4292082" cy="255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382555" y="2248416"/>
            <a:ext cx="6397624" cy="28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0925" y="4194044"/>
            <a:ext cx="8301075" cy="242767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Bilan de la semaine</a:t>
            </a: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Prise en main de la manip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Acquisition de connaissances en automatique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Prise en main Mbed pour piloter une carte Nucleo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Développement d’une interface de pilotage du système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Modélisation de la manip sous Matlab </a:t>
            </a:r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pic>
        <p:nvPicPr>
          <p:cNvPr id="259" name="Google Shape;25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836" y="4591454"/>
            <a:ext cx="2759606" cy="2026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/>
          <p:cNvPicPr preferRelativeResize="0"/>
          <p:nvPr/>
        </p:nvPicPr>
        <p:blipFill rotWithShape="1">
          <a:blip r:embed="rId5">
            <a:alphaModFix/>
          </a:blip>
          <a:srcRect r="49833"/>
          <a:stretch/>
        </p:blipFill>
        <p:spPr>
          <a:xfrm>
            <a:off x="9382855" y="298990"/>
            <a:ext cx="2648858" cy="305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/>
          <p:cNvPicPr preferRelativeResize="0"/>
          <p:nvPr/>
        </p:nvPicPr>
        <p:blipFill rotWithShape="1">
          <a:blip r:embed="rId6">
            <a:alphaModFix/>
          </a:blip>
          <a:srcRect l="6262" t="6006" b="11859"/>
          <a:stretch/>
        </p:blipFill>
        <p:spPr>
          <a:xfrm>
            <a:off x="6527799" y="319088"/>
            <a:ext cx="2855055" cy="1489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66666"/>
          </a:schemeClr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7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1381414" y="0"/>
            <a:ext cx="9144000" cy="6858000"/>
          </a:xfrm>
          <a:prstGeom prst="rect">
            <a:avLst/>
          </a:prstGeom>
          <a:noFill/>
          <a:ln>
            <a:noFill/>
          </a:ln>
          <a:effectLst>
            <a:reflection endPos="0" sy="-100000" algn="bl" rotWithShape="0"/>
          </a:effectLst>
        </p:spPr>
      </p:pic>
      <p:sp>
        <p:nvSpPr>
          <p:cNvPr id="267" name="Google Shape;267;p17"/>
          <p:cNvSpPr txBox="1">
            <a:spLocks noGrp="1"/>
          </p:cNvSpPr>
          <p:nvPr>
            <p:ph type="title"/>
          </p:nvPr>
        </p:nvSpPr>
        <p:spPr>
          <a:xfrm>
            <a:off x="3963122" y="401454"/>
            <a:ext cx="455092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Problèmes à traiter</a:t>
            </a:r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body" idx="1"/>
          </p:nvPr>
        </p:nvSpPr>
        <p:spPr>
          <a:xfrm>
            <a:off x="2380997" y="1781959"/>
            <a:ext cx="7601203" cy="279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Mise en œuvre de la correction numérique (PI/D)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Choix des moteurs pour une application TP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Réalisation d’une carte électronique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Utiliser une théorie prédictive</a:t>
            </a:r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2582035" y="3966552"/>
            <a:ext cx="455092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2582035" y="5168701"/>
            <a:ext cx="7943379" cy="279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étoiles laser artificielles (Costel SUBRAN)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Thèse sur l’optique adaptative de Lucie LEBOULLEUX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Datasheet des moteurs scaners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Grand écran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Calibri</vt:lpstr>
      <vt:lpstr>Thème Office</vt:lpstr>
      <vt:lpstr>PIMS 2020-2021: Asservissement laser</vt:lpstr>
      <vt:lpstr>Présentation du montage actuel</vt:lpstr>
      <vt:lpstr>Correction du système</vt:lpstr>
      <vt:lpstr>Problématique </vt:lpstr>
      <vt:lpstr>Principe de fonctionnement du montage envisagé</vt:lpstr>
      <vt:lpstr>Interface, Choix du langage</vt:lpstr>
      <vt:lpstr>Présentation (du début) de l’interface</vt:lpstr>
      <vt:lpstr>Microcontrôleur – carte Nucleo</vt:lpstr>
      <vt:lpstr>Protocole de communication</vt:lpstr>
      <vt:lpstr>Code de microcontrôleur </vt:lpstr>
      <vt:lpstr>Code de MATLAB </vt:lpstr>
      <vt:lpstr>Adaptation de tension</vt:lpstr>
      <vt:lpstr>Adaptation de tension</vt:lpstr>
      <vt:lpstr>Code nucléo</vt:lpstr>
      <vt:lpstr>Fréquences caractéristiques et Gain</vt:lpstr>
      <vt:lpstr>Simulation sur Matlab </vt:lpstr>
      <vt:lpstr>Correction PI</vt:lpstr>
      <vt:lpstr>Bilan de la semaine</vt:lpstr>
      <vt:lpstr>Problèmes à traiter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PIMS 2020-2021: Asservissement laser</dc:title>
  <dc:creator>Guillaume Huber</dc:creator>
  <cp:lastModifiedBy>Julien Villemejane</cp:lastModifiedBy>
  <cp:revision>1</cp:revision>
  <dcterms:created xsi:type="dcterms:W3CDTF">2020-10-22T18:06:21Z</dcterms:created>
  <dcterms:modified xsi:type="dcterms:W3CDTF">2020-10-23T06:51:29Z</dcterms:modified>
</cp:coreProperties>
</file>