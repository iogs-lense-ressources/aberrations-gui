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0267275" cy="42794238"/>
  <p:notesSz cx="7099300" cy="10234613"/>
  <p:defaultTextStyle>
    <a:defPPr>
      <a:defRPr lang="fr-FR"/>
    </a:defPPr>
    <a:lvl1pPr marL="0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1pPr>
    <a:lvl2pPr marL="1524553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2pPr>
    <a:lvl3pPr marL="3049111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3pPr>
    <a:lvl4pPr marL="4573664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4pPr>
    <a:lvl5pPr marL="6098217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5pPr>
    <a:lvl6pPr marL="7622775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6pPr>
    <a:lvl7pPr marL="9147328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7pPr>
    <a:lvl8pPr marL="10671881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8pPr>
    <a:lvl9pPr marL="12196439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>
          <p15:clr>
            <a:srgbClr val="A4A3A4"/>
          </p15:clr>
        </p15:guide>
        <p15:guide id="2" pos="95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14D"/>
    <a:srgbClr val="FF960A"/>
    <a:srgbClr val="DA5120"/>
    <a:srgbClr val="0A3250"/>
    <a:srgbClr val="8096AD"/>
    <a:srgbClr val="004AAD"/>
    <a:srgbClr val="B0BECC"/>
    <a:srgbClr val="001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694"/>
  </p:normalViewPr>
  <p:slideViewPr>
    <p:cSldViewPr snapToGrid="0" snapToObjects="1">
      <p:cViewPr>
        <p:scale>
          <a:sx n="40" d="100"/>
          <a:sy n="40" d="100"/>
        </p:scale>
        <p:origin x="1284" y="-4998"/>
      </p:cViewPr>
      <p:guideLst>
        <p:guide orient="horz" pos="2424"/>
        <p:guide pos="95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302EA-995F-4616-9BA1-28C1D6F16BD4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279525"/>
            <a:ext cx="2444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9A957-E7A6-4C57-B982-C1E71CE95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893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A957-E7A6-4C57-B982-C1E71CE956A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080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8" y="7003600"/>
            <a:ext cx="25727183" cy="14898735"/>
          </a:xfrm>
        </p:spPr>
        <p:txBody>
          <a:bodyPr anchor="b"/>
          <a:lstStyle>
            <a:lvl1pPr algn="ctr">
              <a:defRPr sz="210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1" y="22476885"/>
            <a:ext cx="22700457" cy="10332033"/>
          </a:xfrm>
        </p:spPr>
        <p:txBody>
          <a:bodyPr/>
          <a:lstStyle>
            <a:lvl1pPr marL="0" indent="0" algn="ctr">
              <a:buNone/>
              <a:defRPr sz="8300"/>
            </a:lvl1pPr>
            <a:lvl2pPr marL="1600784" indent="0" algn="ctr">
              <a:buNone/>
              <a:defRPr sz="7000"/>
            </a:lvl2pPr>
            <a:lvl3pPr marL="3201564" indent="0" algn="ctr">
              <a:buNone/>
              <a:defRPr sz="6100"/>
            </a:lvl3pPr>
            <a:lvl4pPr marL="4802348" indent="0" algn="ctr">
              <a:buNone/>
              <a:defRPr sz="5700"/>
            </a:lvl4pPr>
            <a:lvl5pPr marL="6403131" indent="0" algn="ctr">
              <a:buNone/>
              <a:defRPr sz="5700"/>
            </a:lvl5pPr>
            <a:lvl6pPr marL="8003911" indent="0" algn="ctr">
              <a:buNone/>
              <a:defRPr sz="5700"/>
            </a:lvl6pPr>
            <a:lvl7pPr marL="9604695" indent="0" algn="ctr">
              <a:buNone/>
              <a:defRPr sz="5700"/>
            </a:lvl7pPr>
            <a:lvl8pPr marL="11205475" indent="0" algn="ctr">
              <a:buNone/>
              <a:defRPr sz="5700"/>
            </a:lvl8pPr>
            <a:lvl9pPr marL="12806259" indent="0" algn="ctr">
              <a:buNone/>
              <a:defRPr sz="5700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3" y="10668860"/>
            <a:ext cx="26105525" cy="17801212"/>
          </a:xfrm>
        </p:spPr>
        <p:txBody>
          <a:bodyPr anchor="b"/>
          <a:lstStyle>
            <a:lvl1pPr>
              <a:defRPr sz="210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3" y="28638475"/>
            <a:ext cx="26105525" cy="9361236"/>
          </a:xfrm>
        </p:spPr>
        <p:txBody>
          <a:bodyPr/>
          <a:lstStyle>
            <a:lvl1pPr marL="0" indent="0">
              <a:buNone/>
              <a:defRPr sz="8300">
                <a:solidFill>
                  <a:schemeClr val="tx1"/>
                </a:solidFill>
              </a:defRPr>
            </a:lvl1pPr>
            <a:lvl2pPr marL="1600784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2pPr>
            <a:lvl3pPr marL="3201564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4802348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4pPr>
            <a:lvl5pPr marL="6403131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5pPr>
            <a:lvl6pPr marL="8003911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6pPr>
            <a:lvl7pPr marL="9604695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7pPr>
            <a:lvl8pPr marL="11205475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8pPr>
            <a:lvl9pPr marL="12806259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80" y="11391984"/>
            <a:ext cx="12863591" cy="271525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14" y="11391984"/>
            <a:ext cx="12863591" cy="271525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9" y="2278409"/>
            <a:ext cx="26105525" cy="8271573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4" y="10490538"/>
            <a:ext cx="12804474" cy="5141247"/>
          </a:xfrm>
        </p:spPr>
        <p:txBody>
          <a:bodyPr anchor="b"/>
          <a:lstStyle>
            <a:lvl1pPr marL="0" indent="0">
              <a:buNone/>
              <a:defRPr sz="8300" b="1"/>
            </a:lvl1pPr>
            <a:lvl2pPr marL="1600784" indent="0">
              <a:buNone/>
              <a:defRPr sz="7000" b="1"/>
            </a:lvl2pPr>
            <a:lvl3pPr marL="3201564" indent="0">
              <a:buNone/>
              <a:defRPr sz="6100" b="1"/>
            </a:lvl3pPr>
            <a:lvl4pPr marL="4802348" indent="0">
              <a:buNone/>
              <a:defRPr sz="5700" b="1"/>
            </a:lvl4pPr>
            <a:lvl5pPr marL="6403131" indent="0">
              <a:buNone/>
              <a:defRPr sz="5700" b="1"/>
            </a:lvl5pPr>
            <a:lvl6pPr marL="8003911" indent="0">
              <a:buNone/>
              <a:defRPr sz="5700" b="1"/>
            </a:lvl6pPr>
            <a:lvl7pPr marL="9604695" indent="0">
              <a:buNone/>
              <a:defRPr sz="5700" b="1"/>
            </a:lvl7pPr>
            <a:lvl8pPr marL="11205475" indent="0">
              <a:buNone/>
              <a:defRPr sz="5700" b="1"/>
            </a:lvl8pPr>
            <a:lvl9pPr marL="12806259" indent="0">
              <a:buNone/>
              <a:defRPr sz="57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4" y="15631787"/>
            <a:ext cx="12804474" cy="229920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2" y="10490538"/>
            <a:ext cx="12867537" cy="5141247"/>
          </a:xfrm>
        </p:spPr>
        <p:txBody>
          <a:bodyPr anchor="b"/>
          <a:lstStyle>
            <a:lvl1pPr marL="0" indent="0">
              <a:buNone/>
              <a:defRPr sz="8300" b="1"/>
            </a:lvl1pPr>
            <a:lvl2pPr marL="1600784" indent="0">
              <a:buNone/>
              <a:defRPr sz="7000" b="1"/>
            </a:lvl2pPr>
            <a:lvl3pPr marL="3201564" indent="0">
              <a:buNone/>
              <a:defRPr sz="6100" b="1"/>
            </a:lvl3pPr>
            <a:lvl4pPr marL="4802348" indent="0">
              <a:buNone/>
              <a:defRPr sz="5700" b="1"/>
            </a:lvl4pPr>
            <a:lvl5pPr marL="6403131" indent="0">
              <a:buNone/>
              <a:defRPr sz="5700" b="1"/>
            </a:lvl5pPr>
            <a:lvl6pPr marL="8003911" indent="0">
              <a:buNone/>
              <a:defRPr sz="5700" b="1"/>
            </a:lvl6pPr>
            <a:lvl7pPr marL="9604695" indent="0">
              <a:buNone/>
              <a:defRPr sz="5700" b="1"/>
            </a:lvl7pPr>
            <a:lvl8pPr marL="11205475" indent="0">
              <a:buNone/>
              <a:defRPr sz="5700" b="1"/>
            </a:lvl8pPr>
            <a:lvl9pPr marL="12806259" indent="0">
              <a:buNone/>
              <a:defRPr sz="57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2" y="15631787"/>
            <a:ext cx="12867537" cy="229920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20" y="2852949"/>
            <a:ext cx="9761984" cy="9985322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90"/>
            <a:ext cx="15322811" cy="30411645"/>
          </a:xfrm>
        </p:spPr>
        <p:txBody>
          <a:bodyPr/>
          <a:lstStyle>
            <a:lvl1pPr>
              <a:defRPr sz="11400"/>
            </a:lvl1pPr>
            <a:lvl2pPr>
              <a:defRPr sz="9600"/>
            </a:lvl2pPr>
            <a:lvl3pPr>
              <a:defRPr sz="83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20" y="12838272"/>
            <a:ext cx="9761984" cy="23784483"/>
          </a:xfrm>
        </p:spPr>
        <p:txBody>
          <a:bodyPr/>
          <a:lstStyle>
            <a:lvl1pPr marL="0" indent="0">
              <a:buNone/>
              <a:defRPr sz="5700"/>
            </a:lvl1pPr>
            <a:lvl2pPr marL="1600784" indent="0">
              <a:buNone/>
              <a:defRPr sz="4800"/>
            </a:lvl2pPr>
            <a:lvl3pPr marL="3201564" indent="0">
              <a:buNone/>
              <a:defRPr sz="4400"/>
            </a:lvl3pPr>
            <a:lvl4pPr marL="4802348" indent="0">
              <a:buNone/>
              <a:defRPr sz="3500"/>
            </a:lvl4pPr>
            <a:lvl5pPr marL="6403131" indent="0">
              <a:buNone/>
              <a:defRPr sz="3500"/>
            </a:lvl5pPr>
            <a:lvl6pPr marL="8003911" indent="0">
              <a:buNone/>
              <a:defRPr sz="3500"/>
            </a:lvl6pPr>
            <a:lvl7pPr marL="9604695" indent="0">
              <a:buNone/>
              <a:defRPr sz="3500"/>
            </a:lvl7pPr>
            <a:lvl8pPr marL="11205475" indent="0">
              <a:buNone/>
              <a:defRPr sz="3500"/>
            </a:lvl8pPr>
            <a:lvl9pPr marL="12806259" indent="0">
              <a:buNone/>
              <a:defRPr sz="3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20" y="2852949"/>
            <a:ext cx="9761984" cy="9985322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90"/>
            <a:ext cx="15322811" cy="30411645"/>
          </a:xfrm>
        </p:spPr>
        <p:txBody>
          <a:bodyPr anchor="t"/>
          <a:lstStyle>
            <a:lvl1pPr marL="0" indent="0">
              <a:buNone/>
              <a:defRPr sz="11400"/>
            </a:lvl1pPr>
            <a:lvl2pPr marL="1600784" indent="0">
              <a:buNone/>
              <a:defRPr sz="9600"/>
            </a:lvl2pPr>
            <a:lvl3pPr marL="3201564" indent="0">
              <a:buNone/>
              <a:defRPr sz="8300"/>
            </a:lvl3pPr>
            <a:lvl4pPr marL="4802348" indent="0">
              <a:buNone/>
              <a:defRPr sz="7000"/>
            </a:lvl4pPr>
            <a:lvl5pPr marL="6403131" indent="0">
              <a:buNone/>
              <a:defRPr sz="7000"/>
            </a:lvl5pPr>
            <a:lvl6pPr marL="8003911" indent="0">
              <a:buNone/>
              <a:defRPr sz="7000"/>
            </a:lvl6pPr>
            <a:lvl7pPr marL="9604695" indent="0">
              <a:buNone/>
              <a:defRPr sz="7000"/>
            </a:lvl7pPr>
            <a:lvl8pPr marL="11205475" indent="0">
              <a:buNone/>
              <a:defRPr sz="7000"/>
            </a:lvl8pPr>
            <a:lvl9pPr marL="12806259" indent="0">
              <a:buNone/>
              <a:defRPr sz="70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20" y="12838272"/>
            <a:ext cx="9761984" cy="23784483"/>
          </a:xfrm>
        </p:spPr>
        <p:txBody>
          <a:bodyPr/>
          <a:lstStyle>
            <a:lvl1pPr marL="0" indent="0">
              <a:buNone/>
              <a:defRPr sz="5700"/>
            </a:lvl1pPr>
            <a:lvl2pPr marL="1600784" indent="0">
              <a:buNone/>
              <a:defRPr sz="4800"/>
            </a:lvl2pPr>
            <a:lvl3pPr marL="3201564" indent="0">
              <a:buNone/>
              <a:defRPr sz="4400"/>
            </a:lvl3pPr>
            <a:lvl4pPr marL="4802348" indent="0">
              <a:buNone/>
              <a:defRPr sz="3500"/>
            </a:lvl4pPr>
            <a:lvl5pPr marL="6403131" indent="0">
              <a:buNone/>
              <a:defRPr sz="3500"/>
            </a:lvl5pPr>
            <a:lvl6pPr marL="8003911" indent="0">
              <a:buNone/>
              <a:defRPr sz="3500"/>
            </a:lvl6pPr>
            <a:lvl7pPr marL="9604695" indent="0">
              <a:buNone/>
              <a:defRPr sz="3500"/>
            </a:lvl7pPr>
            <a:lvl8pPr marL="11205475" indent="0">
              <a:buNone/>
              <a:defRPr sz="3500"/>
            </a:lvl8pPr>
            <a:lvl9pPr marL="12806259" indent="0">
              <a:buNone/>
              <a:defRPr sz="3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2" y="2278398"/>
            <a:ext cx="6526381" cy="36266138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8" y="2278398"/>
            <a:ext cx="19200801" cy="362661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7" y="2278409"/>
            <a:ext cx="26105525" cy="8271573"/>
          </a:xfrm>
          <a:prstGeom prst="rect">
            <a:avLst/>
          </a:prstGeom>
        </p:spPr>
        <p:txBody>
          <a:bodyPr vert="horz" lIns="304910" tIns="152457" rIns="304910" bIns="152457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7" y="11391984"/>
            <a:ext cx="26105525" cy="27152551"/>
          </a:xfrm>
          <a:prstGeom prst="rect">
            <a:avLst/>
          </a:prstGeom>
        </p:spPr>
        <p:txBody>
          <a:bodyPr vert="horz" lIns="304910" tIns="152457" rIns="304910" bIns="152457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7" y="39663925"/>
            <a:ext cx="6810136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l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A8ED8-E0E9-434D-B8C4-B4E7862635BC}" type="datetimeFigureOut">
              <a:rPr lang="fr-FR" smtClean="0"/>
              <a:pPr/>
              <a:t>03/07/2025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7" y="39663925"/>
            <a:ext cx="10215205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ct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6" y="39663925"/>
            <a:ext cx="6810136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0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01564" rtl="0" eaLnBrk="1" latinLnBrk="0" hangingPunct="1">
        <a:lnSpc>
          <a:spcPct val="90000"/>
        </a:lnSpc>
        <a:spcBef>
          <a:spcPct val="0"/>
        </a:spcBef>
        <a:buNone/>
        <a:defRPr sz="1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392" indent="-800392" algn="l" defTabSz="3201564" rtl="0" eaLnBrk="1" latinLnBrk="0" hangingPunct="1">
        <a:lnSpc>
          <a:spcPct val="90000"/>
        </a:lnSpc>
        <a:spcBef>
          <a:spcPts val="3503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1pPr>
      <a:lvl2pPr marL="2401172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2pPr>
      <a:lvl3pPr marL="4001956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3pPr>
      <a:lvl4pPr marL="5602740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3519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8804303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10405087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2005867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3606651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600784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201564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802348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403131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8003911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604695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1205475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6259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81DB0DD-642C-7F66-B1C4-3BA37B0437AE}"/>
              </a:ext>
            </a:extLst>
          </p:cNvPr>
          <p:cNvSpPr/>
          <p:nvPr/>
        </p:nvSpPr>
        <p:spPr>
          <a:xfrm>
            <a:off x="1577768" y="13896614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 la surface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7601809" y="708692"/>
            <a:ext cx="20597107" cy="1785219"/>
          </a:xfrm>
          <a:prstGeom prst="rect">
            <a:avLst/>
          </a:prstGeom>
          <a:noFill/>
        </p:spPr>
        <p:txBody>
          <a:bodyPr wrap="square" lIns="304910" tIns="152457" rIns="304910" bIns="152457" rtlCol="0">
            <a:spAutoFit/>
          </a:bodyPr>
          <a:lstStyle/>
          <a:p>
            <a:pPr algn="ctr"/>
            <a:r>
              <a:rPr lang="fr-FR" sz="9600" dirty="0">
                <a:solidFill>
                  <a:srgbClr val="0A3250"/>
                </a:solidFill>
                <a:latin typeface="Interstate-RegularCondensed"/>
                <a:cs typeface="Interstate-RegularCondensed"/>
              </a:rPr>
              <a:t>Interféromètre ZYGO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6493216" y="4821769"/>
            <a:ext cx="615775" cy="1246610"/>
          </a:xfrm>
          <a:prstGeom prst="rect">
            <a:avLst/>
          </a:prstGeom>
          <a:noFill/>
        </p:spPr>
        <p:txBody>
          <a:bodyPr wrap="none" lIns="304910" tIns="152457" rIns="304910" bIns="152457" rtlCol="0">
            <a:spAutoFit/>
          </a:bodyPr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E37D2C-8DC5-8228-DE8A-0C965A3D6CDC}"/>
              </a:ext>
            </a:extLst>
          </p:cNvPr>
          <p:cNvSpPr/>
          <p:nvPr/>
        </p:nvSpPr>
        <p:spPr>
          <a:xfrm flipV="1">
            <a:off x="795896" y="3751472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Box 55">
            <a:extLst>
              <a:ext uri="{FF2B5EF4-FFF2-40B4-BE49-F238E27FC236}">
                <a16:creationId xmlns:a16="http://schemas.microsoft.com/office/drawing/2014/main" id="{1D6097BC-2A5F-9089-06F4-31C224A5E883}"/>
              </a:ext>
            </a:extLst>
          </p:cNvPr>
          <p:cNvSpPr txBox="1"/>
          <p:nvPr/>
        </p:nvSpPr>
        <p:spPr>
          <a:xfrm>
            <a:off x="11340463" y="2763486"/>
            <a:ext cx="1356889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2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Contrôles</a:t>
            </a:r>
            <a:r>
              <a:rPr lang="en-US" sz="54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interférométriques / Aberrations</a:t>
            </a:r>
          </a:p>
        </p:txBody>
      </p:sp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7CE51007-5339-A8C0-7943-1304AC02780D}"/>
              </a:ext>
            </a:extLst>
          </p:cNvPr>
          <p:cNvSpPr/>
          <p:nvPr/>
        </p:nvSpPr>
        <p:spPr>
          <a:xfrm>
            <a:off x="1656600" y="8333082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Acquisition des images</a:t>
            </a:r>
          </a:p>
        </p:txBody>
      </p:sp>
      <p:sp>
        <p:nvSpPr>
          <p:cNvPr id="107" name="Rectangle : coins arrondis 106">
            <a:extLst>
              <a:ext uri="{FF2B5EF4-FFF2-40B4-BE49-F238E27FC236}">
                <a16:creationId xmlns:a16="http://schemas.microsoft.com/office/drawing/2014/main" id="{6DAD2D0C-4F85-D8DD-BE38-632AB54C0FAF}"/>
              </a:ext>
            </a:extLst>
          </p:cNvPr>
          <p:cNvSpPr/>
          <p:nvPr/>
        </p:nvSpPr>
        <p:spPr>
          <a:xfrm>
            <a:off x="1656228" y="11744723"/>
            <a:ext cx="7337572" cy="911659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Traitement de la phase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90015255-C35C-C713-A97A-02F4FEA25DC6}"/>
              </a:ext>
            </a:extLst>
          </p:cNvPr>
          <p:cNvSpPr txBox="1"/>
          <p:nvPr/>
        </p:nvSpPr>
        <p:spPr>
          <a:xfrm>
            <a:off x="1319455" y="12721913"/>
            <a:ext cx="80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9540" lvl="1" algn="ctr"/>
            <a:r>
              <a:rPr lang="en-US" sz="2800" b="1" dirty="0">
                <a:solidFill>
                  <a:srgbClr val="8096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Algorithme de Hariharan / Correction (tilt)</a:t>
            </a:r>
          </a:p>
        </p:txBody>
      </p:sp>
      <p:grpSp>
        <p:nvGrpSpPr>
          <p:cNvPr id="109" name="Group 12">
            <a:extLst>
              <a:ext uri="{FF2B5EF4-FFF2-40B4-BE49-F238E27FC236}">
                <a16:creationId xmlns:a16="http://schemas.microsoft.com/office/drawing/2014/main" id="{788732A7-67F2-A860-64E0-8A9F6D0A6B3E}"/>
              </a:ext>
            </a:extLst>
          </p:cNvPr>
          <p:cNvGrpSpPr/>
          <p:nvPr/>
        </p:nvGrpSpPr>
        <p:grpSpPr>
          <a:xfrm rot="5400000">
            <a:off x="5063403" y="12540050"/>
            <a:ext cx="523220" cy="1920607"/>
            <a:chOff x="0" y="0"/>
            <a:chExt cx="406400" cy="406400"/>
          </a:xfrm>
        </p:grpSpPr>
        <p:sp>
          <p:nvSpPr>
            <p:cNvPr id="110" name="Freeform 13">
              <a:extLst>
                <a:ext uri="{FF2B5EF4-FFF2-40B4-BE49-F238E27FC236}">
                  <a16:creationId xmlns:a16="http://schemas.microsoft.com/office/drawing/2014/main" id="{C5C801E3-1F6F-7C84-B773-EC17A3AF5953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1" name="TextBox 14">
              <a:extLst>
                <a:ext uri="{FF2B5EF4-FFF2-40B4-BE49-F238E27FC236}">
                  <a16:creationId xmlns:a16="http://schemas.microsoft.com/office/drawing/2014/main" id="{B84D1237-1B6B-7FFD-998C-0C005C7754F3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2" name="Rectangle : coins arrondis 111">
            <a:extLst>
              <a:ext uri="{FF2B5EF4-FFF2-40B4-BE49-F238E27FC236}">
                <a16:creationId xmlns:a16="http://schemas.microsoft.com/office/drawing/2014/main" id="{A0E40E9B-725F-DF12-0318-D21606CCA058}"/>
              </a:ext>
            </a:extLst>
          </p:cNvPr>
          <p:cNvSpPr/>
          <p:nvPr/>
        </p:nvSpPr>
        <p:spPr>
          <a:xfrm>
            <a:off x="1552333" y="16190678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des aberrations</a:t>
            </a:r>
          </a:p>
        </p:txBody>
      </p: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710C76C9-AFEC-E64F-4DAB-F1C94088C1CF}"/>
              </a:ext>
            </a:extLst>
          </p:cNvPr>
          <p:cNvSpPr/>
          <p:nvPr/>
        </p:nvSpPr>
        <p:spPr>
          <a:xfrm>
            <a:off x="10504247" y="16190678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Coefficients Zernike</a:t>
            </a:r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8DD64AE8-7083-74A1-2748-900D59F3F921}"/>
              </a:ext>
            </a:extLst>
          </p:cNvPr>
          <p:cNvSpPr/>
          <p:nvPr/>
        </p:nvSpPr>
        <p:spPr>
          <a:xfrm>
            <a:off x="10504245" y="16902824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Affichage front corrigé</a:t>
            </a:r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7664ED7D-A51E-D703-3E63-D82155B90C69}"/>
              </a:ext>
            </a:extLst>
          </p:cNvPr>
          <p:cNvSpPr/>
          <p:nvPr/>
        </p:nvSpPr>
        <p:spPr>
          <a:xfrm>
            <a:off x="10598181" y="17762096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PSF</a:t>
            </a:r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07B699A1-087B-B8FA-254E-5464AAED5A54}"/>
              </a:ext>
            </a:extLst>
          </p:cNvPr>
          <p:cNvSpPr/>
          <p:nvPr/>
        </p:nvSpPr>
        <p:spPr>
          <a:xfrm>
            <a:off x="10598178" y="18528166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FTM</a:t>
            </a:r>
          </a:p>
        </p:txBody>
      </p:sp>
      <p:grpSp>
        <p:nvGrpSpPr>
          <p:cNvPr id="120" name="Group 12">
            <a:extLst>
              <a:ext uri="{FF2B5EF4-FFF2-40B4-BE49-F238E27FC236}">
                <a16:creationId xmlns:a16="http://schemas.microsoft.com/office/drawing/2014/main" id="{61444A8C-4FBF-4015-384E-8D16E9D0B44D}"/>
              </a:ext>
            </a:extLst>
          </p:cNvPr>
          <p:cNvGrpSpPr/>
          <p:nvPr/>
        </p:nvGrpSpPr>
        <p:grpSpPr>
          <a:xfrm>
            <a:off x="9596165" y="16226727"/>
            <a:ext cx="662841" cy="1231107"/>
            <a:chOff x="0" y="0"/>
            <a:chExt cx="406400" cy="406400"/>
          </a:xfrm>
        </p:grpSpPr>
        <p:sp>
          <p:nvSpPr>
            <p:cNvPr id="121" name="Freeform 13">
              <a:extLst>
                <a:ext uri="{FF2B5EF4-FFF2-40B4-BE49-F238E27FC236}">
                  <a16:creationId xmlns:a16="http://schemas.microsoft.com/office/drawing/2014/main" id="{43286417-A96E-771F-D649-C25DC338CB47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2" name="TextBox 14">
              <a:extLst>
                <a:ext uri="{FF2B5EF4-FFF2-40B4-BE49-F238E27FC236}">
                  <a16:creationId xmlns:a16="http://schemas.microsoft.com/office/drawing/2014/main" id="{1C34E6F0-ACEC-EB2F-1851-6D890301FFBF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12">
            <a:extLst>
              <a:ext uri="{FF2B5EF4-FFF2-40B4-BE49-F238E27FC236}">
                <a16:creationId xmlns:a16="http://schemas.microsoft.com/office/drawing/2014/main" id="{F5F408E5-0811-F311-9B80-D2F5FA8FD1E7}"/>
              </a:ext>
            </a:extLst>
          </p:cNvPr>
          <p:cNvGrpSpPr/>
          <p:nvPr/>
        </p:nvGrpSpPr>
        <p:grpSpPr>
          <a:xfrm>
            <a:off x="9648671" y="17787378"/>
            <a:ext cx="662841" cy="1231107"/>
            <a:chOff x="0" y="0"/>
            <a:chExt cx="406400" cy="406400"/>
          </a:xfrm>
        </p:grpSpPr>
        <p:sp>
          <p:nvSpPr>
            <p:cNvPr id="6" name="Freeform 13">
              <a:extLst>
                <a:ext uri="{FF2B5EF4-FFF2-40B4-BE49-F238E27FC236}">
                  <a16:creationId xmlns:a16="http://schemas.microsoft.com/office/drawing/2014/main" id="{4C3F30A4-B6E6-A377-4CCD-CA11AE941450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1C0460FF-8972-CE6A-6D9C-30B53F9A2CCD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id="{A2EA1175-A998-A1D7-892A-828E59340203}"/>
              </a:ext>
            </a:extLst>
          </p:cNvPr>
          <p:cNvGrpSpPr/>
          <p:nvPr/>
        </p:nvGrpSpPr>
        <p:grpSpPr>
          <a:xfrm rot="5400000">
            <a:off x="5063402" y="8695726"/>
            <a:ext cx="523220" cy="1920607"/>
            <a:chOff x="0" y="0"/>
            <a:chExt cx="406400" cy="4064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480478-3239-C7D4-38CE-148BE35B980E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C1A603-35E1-6F45-F9FB-73AB0B61BE3C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D47228C-5240-BEF7-3814-8AE40D9582D8}"/>
              </a:ext>
            </a:extLst>
          </p:cNvPr>
          <p:cNvSpPr/>
          <p:nvPr/>
        </p:nvSpPr>
        <p:spPr>
          <a:xfrm>
            <a:off x="1656226" y="4797198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Alignement</a:t>
            </a: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C8130A9-CC9B-67E5-FA0F-753CFC50698E}"/>
              </a:ext>
            </a:extLst>
          </p:cNvPr>
          <p:cNvGrpSpPr/>
          <p:nvPr/>
        </p:nvGrpSpPr>
        <p:grpSpPr>
          <a:xfrm rot="5400000">
            <a:off x="5104945" y="5130426"/>
            <a:ext cx="523220" cy="1920607"/>
            <a:chOff x="0" y="0"/>
            <a:chExt cx="406400" cy="4064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AADCF41-6A1A-9F94-F72C-0BEB09EC6AAD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07D6CB5E-C0C0-8E19-DD4A-6BCB635ACC3A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DFB82F4-B82A-BE67-0A03-081785352B59}"/>
              </a:ext>
            </a:extLst>
          </p:cNvPr>
          <p:cNvSpPr/>
          <p:nvPr/>
        </p:nvSpPr>
        <p:spPr>
          <a:xfrm>
            <a:off x="9589407" y="4797198"/>
            <a:ext cx="10135567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Autocollimation   (miroir plan)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555EB36-0006-2E72-9943-F63D69A3EDF0}"/>
              </a:ext>
            </a:extLst>
          </p:cNvPr>
          <p:cNvSpPr txBox="1"/>
          <p:nvPr/>
        </p:nvSpPr>
        <p:spPr>
          <a:xfrm>
            <a:off x="1656226" y="3854941"/>
            <a:ext cx="7337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Etapes / TP 1A et 2A</a:t>
            </a:r>
            <a:endParaRPr lang="fr-FR" sz="48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CCB34BD-E206-C631-CFBC-72A62CFB9048}"/>
              </a:ext>
            </a:extLst>
          </p:cNvPr>
          <p:cNvSpPr txBox="1"/>
          <p:nvPr/>
        </p:nvSpPr>
        <p:spPr>
          <a:xfrm>
            <a:off x="21821590" y="3925222"/>
            <a:ext cx="6530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Interface / Mode</a:t>
            </a:r>
            <a:endParaRPr lang="fr-FR" sz="4800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99ACF2C-1789-80D7-F290-83618BC521E2}"/>
              </a:ext>
            </a:extLst>
          </p:cNvPr>
          <p:cNvSpPr/>
          <p:nvPr/>
        </p:nvSpPr>
        <p:spPr>
          <a:xfrm>
            <a:off x="20127935" y="4801827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CE8449A-05FB-2153-709A-E8D38AEEF70C}"/>
              </a:ext>
            </a:extLst>
          </p:cNvPr>
          <p:cNvSpPr/>
          <p:nvPr/>
        </p:nvSpPr>
        <p:spPr>
          <a:xfrm>
            <a:off x="17364838" y="4905293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ALIGN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18CD17E-855F-671A-C868-0AC9574085D2}"/>
              </a:ext>
            </a:extLst>
          </p:cNvPr>
          <p:cNvSpPr/>
          <p:nvPr/>
        </p:nvSpPr>
        <p:spPr>
          <a:xfrm>
            <a:off x="9589408" y="828201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5 images / Décalage Piezo  </a:t>
            </a:r>
            <a:r>
              <a:rPr lang="el-GR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/4 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19CD01B-842D-1514-EE55-1AD322A06037}"/>
              </a:ext>
            </a:extLst>
          </p:cNvPr>
          <p:cNvSpPr/>
          <p:nvPr/>
        </p:nvSpPr>
        <p:spPr>
          <a:xfrm>
            <a:off x="17364838" y="8411984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VIEW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3CE61AAB-B215-6FD6-BAFE-C1F30FD7E434}"/>
              </a:ext>
            </a:extLst>
          </p:cNvPr>
          <p:cNvSpPr/>
          <p:nvPr/>
        </p:nvSpPr>
        <p:spPr>
          <a:xfrm>
            <a:off x="23310575" y="4808086"/>
            <a:ext cx="296333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Camera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C0A7EC0A-6957-7E00-24E0-22B0DEC4E2AA}"/>
              </a:ext>
            </a:extLst>
          </p:cNvPr>
          <p:cNvSpPr/>
          <p:nvPr/>
        </p:nvSpPr>
        <p:spPr>
          <a:xfrm>
            <a:off x="26493216" y="4816855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Zoom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0AF33FA6-ABE3-F76E-9304-B6B098E4D799}"/>
              </a:ext>
            </a:extLst>
          </p:cNvPr>
          <p:cNvSpPr/>
          <p:nvPr/>
        </p:nvSpPr>
        <p:spPr>
          <a:xfrm>
            <a:off x="20166876" y="8251450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3B83D1A8-A512-5289-952F-407EA2F039C0}"/>
              </a:ext>
            </a:extLst>
          </p:cNvPr>
          <p:cNvSpPr/>
          <p:nvPr/>
        </p:nvSpPr>
        <p:spPr>
          <a:xfrm>
            <a:off x="1659900" y="6512621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Paramétrage caméra</a:t>
            </a: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7B923D0E-1B90-96B0-65D0-A6ADE787BBCF}"/>
              </a:ext>
            </a:extLst>
          </p:cNvPr>
          <p:cNvGrpSpPr/>
          <p:nvPr/>
        </p:nvGrpSpPr>
        <p:grpSpPr>
          <a:xfrm rot="5400000">
            <a:off x="5063401" y="6846527"/>
            <a:ext cx="523220" cy="1920607"/>
            <a:chOff x="0" y="0"/>
            <a:chExt cx="406400" cy="406400"/>
          </a:xfrm>
        </p:grpSpPr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96CE0456-FC11-7217-595C-83190192E559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2" name="TextBox 14">
              <a:extLst>
                <a:ext uri="{FF2B5EF4-FFF2-40B4-BE49-F238E27FC236}">
                  <a16:creationId xmlns:a16="http://schemas.microsoft.com/office/drawing/2014/main" id="{4C9A249B-280F-D753-10D4-D98C310F8733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9BA1A53F-6BFA-105A-E7D9-4EB2F7E8B2C9}"/>
              </a:ext>
            </a:extLst>
          </p:cNvPr>
          <p:cNvSpPr/>
          <p:nvPr/>
        </p:nvSpPr>
        <p:spPr>
          <a:xfrm>
            <a:off x="9589412" y="6512621"/>
            <a:ext cx="10135562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Temps d’exposition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C5E51EB-D670-8B6C-3946-841DAE1F7239}"/>
              </a:ext>
            </a:extLst>
          </p:cNvPr>
          <p:cNvSpPr/>
          <p:nvPr/>
        </p:nvSpPr>
        <p:spPr>
          <a:xfrm>
            <a:off x="17351012" y="6623131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VIEW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8273C84F-D5C6-97D4-BA6C-8E13981B442C}"/>
              </a:ext>
            </a:extLst>
          </p:cNvPr>
          <p:cNvSpPr/>
          <p:nvPr/>
        </p:nvSpPr>
        <p:spPr>
          <a:xfrm>
            <a:off x="20166876" y="6486338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86253ABA-B70B-278A-2AE8-172AB30483F4}"/>
              </a:ext>
            </a:extLst>
          </p:cNvPr>
          <p:cNvSpPr/>
          <p:nvPr/>
        </p:nvSpPr>
        <p:spPr>
          <a:xfrm>
            <a:off x="23349516" y="6492597"/>
            <a:ext cx="296333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Camera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F608157B-7CDB-5D7E-C7D2-E1E8C308C63B}"/>
              </a:ext>
            </a:extLst>
          </p:cNvPr>
          <p:cNvSpPr/>
          <p:nvPr/>
        </p:nvSpPr>
        <p:spPr>
          <a:xfrm>
            <a:off x="26493216" y="6473137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Exposition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8DF3419D-C3D7-2476-6DBE-2D2B66CFEA9F}"/>
              </a:ext>
            </a:extLst>
          </p:cNvPr>
          <p:cNvSpPr/>
          <p:nvPr/>
        </p:nvSpPr>
        <p:spPr>
          <a:xfrm>
            <a:off x="1611327" y="10056862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Ajout de masques</a:t>
            </a:r>
          </a:p>
        </p:txBody>
      </p:sp>
      <p:grpSp>
        <p:nvGrpSpPr>
          <p:cNvPr id="50" name="Group 12">
            <a:extLst>
              <a:ext uri="{FF2B5EF4-FFF2-40B4-BE49-F238E27FC236}">
                <a16:creationId xmlns:a16="http://schemas.microsoft.com/office/drawing/2014/main" id="{DAD28D28-180E-BDC8-B10F-5F57C822983A}"/>
              </a:ext>
            </a:extLst>
          </p:cNvPr>
          <p:cNvGrpSpPr/>
          <p:nvPr/>
        </p:nvGrpSpPr>
        <p:grpSpPr>
          <a:xfrm rot="5400000">
            <a:off x="5014828" y="10390768"/>
            <a:ext cx="523220" cy="1920607"/>
            <a:chOff x="0" y="0"/>
            <a:chExt cx="406400" cy="406400"/>
          </a:xfrm>
        </p:grpSpPr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A52A6949-9025-DA16-A2F8-ED85F8DCB434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53" name="TextBox 14">
              <a:extLst>
                <a:ext uri="{FF2B5EF4-FFF2-40B4-BE49-F238E27FC236}">
                  <a16:creationId xmlns:a16="http://schemas.microsoft.com/office/drawing/2014/main" id="{EE8CBD74-6328-6390-F94C-DA564601F705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3439E50E-1D92-628B-F557-63B9148B1002}"/>
              </a:ext>
            </a:extLst>
          </p:cNvPr>
          <p:cNvSpPr/>
          <p:nvPr/>
        </p:nvSpPr>
        <p:spPr>
          <a:xfrm>
            <a:off x="9550467" y="10056862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Création d’un masque circulaire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758575CF-B611-93FD-6C1C-9EC482C69343}"/>
              </a:ext>
            </a:extLst>
          </p:cNvPr>
          <p:cNvSpPr/>
          <p:nvPr/>
        </p:nvSpPr>
        <p:spPr>
          <a:xfrm>
            <a:off x="20127935" y="1002629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Masques</a:t>
            </a: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6150819C-11E0-2A9C-56C9-EEE8FF65E209}"/>
              </a:ext>
            </a:extLst>
          </p:cNvPr>
          <p:cNvSpPr/>
          <p:nvPr/>
        </p:nvSpPr>
        <p:spPr>
          <a:xfrm>
            <a:off x="23349516" y="8246353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Simple Acquisition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E9E5A62D-55D2-8AB1-09B2-9BC404ACC04F}"/>
              </a:ext>
            </a:extLst>
          </p:cNvPr>
          <p:cNvSpPr/>
          <p:nvPr/>
        </p:nvSpPr>
        <p:spPr>
          <a:xfrm>
            <a:off x="26493216" y="9238316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Lancer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AD51BFAC-4EAC-5668-AC72-0AAC22748377}"/>
              </a:ext>
            </a:extLst>
          </p:cNvPr>
          <p:cNvSpPr/>
          <p:nvPr/>
        </p:nvSpPr>
        <p:spPr>
          <a:xfrm>
            <a:off x="23349516" y="10051887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Masque Circulaire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471D33A3-186D-F912-B3D0-04482D255E8E}"/>
              </a:ext>
            </a:extLst>
          </p:cNvPr>
          <p:cNvSpPr/>
          <p:nvPr/>
        </p:nvSpPr>
        <p:spPr>
          <a:xfrm>
            <a:off x="26493216" y="11044827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3 points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23BF887C-B933-6AB6-5471-2F134214FFEE}"/>
              </a:ext>
            </a:extLst>
          </p:cNvPr>
          <p:cNvSpPr/>
          <p:nvPr/>
        </p:nvSpPr>
        <p:spPr>
          <a:xfrm>
            <a:off x="9589407" y="11742062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Calcul phase enroulée / Calcul phase déroulée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4A88E645-4677-6A2F-FED2-4B3E9172F0DD}"/>
              </a:ext>
            </a:extLst>
          </p:cNvPr>
          <p:cNvSpPr/>
          <p:nvPr/>
        </p:nvSpPr>
        <p:spPr>
          <a:xfrm>
            <a:off x="20166875" y="1171149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Canva Sans Bold" panose="020B0604020202020204" charset="0"/>
              </a:rPr>
              <a:t>Analyse Simple</a:t>
            </a: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091C01E5-610A-52D9-3E18-07CB87D49BB7}"/>
              </a:ext>
            </a:extLst>
          </p:cNvPr>
          <p:cNvSpPr/>
          <p:nvPr/>
        </p:nvSpPr>
        <p:spPr>
          <a:xfrm>
            <a:off x="23388456" y="11737087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Phase non déroulée</a:t>
            </a: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E4BEDCF5-E61E-860A-83C9-EF97DE38752B}"/>
              </a:ext>
            </a:extLst>
          </p:cNvPr>
          <p:cNvSpPr/>
          <p:nvPr/>
        </p:nvSpPr>
        <p:spPr>
          <a:xfrm>
            <a:off x="23388456" y="13852158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Correction Tilt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1A70FBF9-BA65-B52B-3B90-36142880F039}"/>
              </a:ext>
            </a:extLst>
          </p:cNvPr>
          <p:cNvSpPr/>
          <p:nvPr/>
        </p:nvSpPr>
        <p:spPr>
          <a:xfrm>
            <a:off x="9591074" y="1385107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Affichage phase déroulée / Correction tilt</a:t>
            </a:r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963A7C32-716D-72E9-DB9F-CCFFBA16FA32}"/>
              </a:ext>
            </a:extLst>
          </p:cNvPr>
          <p:cNvSpPr/>
          <p:nvPr/>
        </p:nvSpPr>
        <p:spPr>
          <a:xfrm>
            <a:off x="20166876" y="1387384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Canva Sans Bold" panose="020B0604020202020204" charset="0"/>
              </a:rPr>
              <a:t>Analyse Simple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1B186648-C533-FCB0-A238-9F45E2515CEB}"/>
              </a:ext>
            </a:extLst>
          </p:cNvPr>
          <p:cNvSpPr/>
          <p:nvPr/>
        </p:nvSpPr>
        <p:spPr>
          <a:xfrm>
            <a:off x="20107882" y="16145141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Aberrations</a:t>
            </a:r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4C76C4EB-87C9-C897-18E8-B234ED51BF05}"/>
              </a:ext>
            </a:extLst>
          </p:cNvPr>
          <p:cNvSpPr/>
          <p:nvPr/>
        </p:nvSpPr>
        <p:spPr>
          <a:xfrm>
            <a:off x="23329462" y="16136330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Coefficients Zernike</a:t>
            </a:r>
          </a:p>
        </p:txBody>
      </p: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50399932-1ADB-557D-03DB-23E3E99FEC06}"/>
              </a:ext>
            </a:extLst>
          </p:cNvPr>
          <p:cNvSpPr/>
          <p:nvPr/>
        </p:nvSpPr>
        <p:spPr>
          <a:xfrm>
            <a:off x="23329462" y="16765733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Correction Phase</a:t>
            </a:r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749FBDC8-B542-CE30-4FED-A738BB1D5A8D}"/>
              </a:ext>
            </a:extLst>
          </p:cNvPr>
          <p:cNvSpPr/>
          <p:nvPr/>
        </p:nvSpPr>
        <p:spPr>
          <a:xfrm>
            <a:off x="20107882" y="17671962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Traitements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2CF27319-E923-8A09-5071-E4D54C498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16" y="20901626"/>
            <a:ext cx="8479085" cy="4722009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6513626C-A231-982A-29F2-D3215770A248}"/>
              </a:ext>
            </a:extLst>
          </p:cNvPr>
          <p:cNvSpPr txBox="1"/>
          <p:nvPr/>
        </p:nvSpPr>
        <p:spPr>
          <a:xfrm>
            <a:off x="1175787" y="25623635"/>
            <a:ext cx="4604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Acquisition de 5 images déphasées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DCA733F-C0BF-8263-22DB-A31755214265}"/>
              </a:ext>
            </a:extLst>
          </p:cNvPr>
          <p:cNvSpPr txBox="1"/>
          <p:nvPr/>
        </p:nvSpPr>
        <p:spPr>
          <a:xfrm>
            <a:off x="23388456" y="12308015"/>
            <a:ext cx="5380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Canva Sans Bold" panose="020B0604020202020204" charset="0"/>
              </a:rPr>
              <a:t>étape optionnelle à but pédagogique</a:t>
            </a:r>
            <a:endParaRPr lang="fr-FR" sz="2400" dirty="0"/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0750683B-D6EE-99DC-5136-CFE0A9325A96}"/>
              </a:ext>
            </a:extLst>
          </p:cNvPr>
          <p:cNvSpPr/>
          <p:nvPr/>
        </p:nvSpPr>
        <p:spPr>
          <a:xfrm flipV="1">
            <a:off x="760651" y="15142143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9C5B3B6-0507-BA6E-FDCE-F7FD1E219D60}"/>
              </a:ext>
            </a:extLst>
          </p:cNvPr>
          <p:cNvSpPr txBox="1"/>
          <p:nvPr/>
        </p:nvSpPr>
        <p:spPr>
          <a:xfrm>
            <a:off x="1477033" y="15217195"/>
            <a:ext cx="7337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TP 2A</a:t>
            </a:r>
            <a:endParaRPr lang="fr-FR" sz="4800" dirty="0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0C0E986-637A-E43A-16F1-5203679589A3}"/>
              </a:ext>
            </a:extLst>
          </p:cNvPr>
          <p:cNvSpPr/>
          <p:nvPr/>
        </p:nvSpPr>
        <p:spPr>
          <a:xfrm>
            <a:off x="26532156" y="14439524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Affichage 3D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FFF27B-1308-7262-D274-31AB55462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900" y="732947"/>
            <a:ext cx="5944116" cy="244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utoShape 2">
            <a:extLst>
              <a:ext uri="{FF2B5EF4-FFF2-40B4-BE49-F238E27FC236}">
                <a16:creationId xmlns:a16="http://schemas.microsoft.com/office/drawing/2014/main" id="{639713F4-2EE5-7B5C-208C-217CE8A5B4C0}"/>
              </a:ext>
            </a:extLst>
          </p:cNvPr>
          <p:cNvSpPr/>
          <p:nvPr/>
        </p:nvSpPr>
        <p:spPr>
          <a:xfrm flipV="1">
            <a:off x="795896" y="19457469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54870AE9-4B5D-BB53-8D07-A8FC824742C7}"/>
              </a:ext>
            </a:extLst>
          </p:cNvPr>
          <p:cNvSpPr/>
          <p:nvPr/>
        </p:nvSpPr>
        <p:spPr>
          <a:xfrm>
            <a:off x="795896" y="20135033"/>
            <a:ext cx="6114398" cy="511771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Acquisition des images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11AD3C89-83BE-AC31-5494-2DA0E165EEDE}"/>
              </a:ext>
            </a:extLst>
          </p:cNvPr>
          <p:cNvSpPr/>
          <p:nvPr/>
        </p:nvSpPr>
        <p:spPr>
          <a:xfrm>
            <a:off x="795896" y="26708803"/>
            <a:ext cx="6114398" cy="511771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Traitement de la phase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07EAED0D-C2E9-8183-459A-95698E584C1C}"/>
              </a:ext>
            </a:extLst>
          </p:cNvPr>
          <p:cNvSpPr/>
          <p:nvPr/>
        </p:nvSpPr>
        <p:spPr>
          <a:xfrm>
            <a:off x="760651" y="33232200"/>
            <a:ext cx="6114398" cy="511771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Analyse de la surface</a:t>
            </a:r>
          </a:p>
        </p:txBody>
      </p:sp>
      <p:sp>
        <p:nvSpPr>
          <p:cNvPr id="62" name="AutoShape 2">
            <a:extLst>
              <a:ext uri="{FF2B5EF4-FFF2-40B4-BE49-F238E27FC236}">
                <a16:creationId xmlns:a16="http://schemas.microsoft.com/office/drawing/2014/main" id="{DE780CCC-E38E-B46C-ED45-2A5090572669}"/>
              </a:ext>
            </a:extLst>
          </p:cNvPr>
          <p:cNvSpPr/>
          <p:nvPr/>
        </p:nvSpPr>
        <p:spPr>
          <a:xfrm>
            <a:off x="10713640" y="19874564"/>
            <a:ext cx="0" cy="21080932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4" name="AutoShape 2">
            <a:extLst>
              <a:ext uri="{FF2B5EF4-FFF2-40B4-BE49-F238E27FC236}">
                <a16:creationId xmlns:a16="http://schemas.microsoft.com/office/drawing/2014/main" id="{9585659A-ABFA-CF0F-EE1E-0BCCD53F3ADB}"/>
              </a:ext>
            </a:extLst>
          </p:cNvPr>
          <p:cNvSpPr/>
          <p:nvPr/>
        </p:nvSpPr>
        <p:spPr>
          <a:xfrm flipV="1">
            <a:off x="795896" y="41290774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2C97FE23-F7B7-1F91-88A4-F3ABB6371F48}"/>
              </a:ext>
            </a:extLst>
          </p:cNvPr>
          <p:cNvSpPr txBox="1"/>
          <p:nvPr/>
        </p:nvSpPr>
        <p:spPr>
          <a:xfrm>
            <a:off x="760650" y="41384515"/>
            <a:ext cx="28745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Canva Sans Bold" panose="020B0604020202020204" charset="0"/>
              </a:rPr>
              <a:t>Interface </a:t>
            </a:r>
            <a:r>
              <a:rPr lang="fr-FR" sz="2400" dirty="0" err="1">
                <a:solidFill>
                  <a:schemeClr val="tx1"/>
                </a:solidFill>
                <a:latin typeface="Canva Sans Bold" panose="020B0604020202020204" charset="0"/>
              </a:rPr>
              <a:t>co-développée</a:t>
            </a:r>
            <a:r>
              <a:rPr lang="fr-FR" sz="2400" dirty="0">
                <a:solidFill>
                  <a:schemeClr val="tx1"/>
                </a:solidFill>
                <a:latin typeface="Canva Sans Bold" panose="020B0604020202020204" charset="0"/>
              </a:rPr>
              <a:t> par </a:t>
            </a:r>
            <a:r>
              <a:rPr lang="fr-FR" sz="2400" b="1" dirty="0">
                <a:solidFill>
                  <a:schemeClr val="tx1"/>
                </a:solidFill>
                <a:latin typeface="Canva Sans Bold" panose="020B0604020202020204" charset="0"/>
              </a:rPr>
              <a:t>Dorian MENDES </a:t>
            </a:r>
            <a:r>
              <a:rPr lang="fr-FR" sz="2400" dirty="0">
                <a:solidFill>
                  <a:schemeClr val="tx1"/>
                </a:solidFill>
                <a:latin typeface="Canva Sans Bold" panose="020B0604020202020204" charset="0"/>
              </a:rPr>
              <a:t>(Promo 2026 – Stage), </a:t>
            </a:r>
            <a:r>
              <a:rPr lang="fr-FR" sz="2400" b="1" dirty="0">
                <a:solidFill>
                  <a:schemeClr val="tx1"/>
                </a:solidFill>
                <a:latin typeface="Canva Sans Bold" panose="020B0604020202020204" charset="0"/>
              </a:rPr>
              <a:t>Abdallah MRABTI </a:t>
            </a:r>
            <a:r>
              <a:rPr lang="fr-FR" sz="2400" dirty="0">
                <a:solidFill>
                  <a:schemeClr val="tx1"/>
                </a:solidFill>
                <a:latin typeface="Canva Sans Bold" panose="020B0604020202020204" charset="0"/>
              </a:rPr>
              <a:t>(Promo 2026 – Projet 2A) et </a:t>
            </a:r>
            <a:r>
              <a:rPr lang="fr-FR" sz="2400" b="1" dirty="0">
                <a:solidFill>
                  <a:schemeClr val="tx1"/>
                </a:solidFill>
                <a:latin typeface="Canva Sans Bold" panose="020B0604020202020204" charset="0"/>
              </a:rPr>
              <a:t>Noam CHOPPINET </a:t>
            </a:r>
            <a:r>
              <a:rPr lang="fr-FR" sz="2400" dirty="0">
                <a:solidFill>
                  <a:schemeClr val="tx1"/>
                </a:solidFill>
                <a:latin typeface="Canva Sans Bold" panose="020B0604020202020204" charset="0"/>
              </a:rPr>
              <a:t>(Promo 2027 – Stage)</a:t>
            </a:r>
          </a:p>
          <a:p>
            <a:pPr algn="ctr"/>
            <a:r>
              <a:rPr lang="fr-FR" sz="2400" dirty="0">
                <a:latin typeface="Canva Sans Bold" panose="020B0604020202020204" charset="0"/>
              </a:rPr>
              <a:t>Développement supervisé par </a:t>
            </a:r>
            <a:r>
              <a:rPr lang="fr-FR" sz="2400" b="1" dirty="0">
                <a:latin typeface="Canva Sans Bold" panose="020B0604020202020204" charset="0"/>
              </a:rPr>
              <a:t>Julien VILLEMEJANE </a:t>
            </a:r>
            <a:r>
              <a:rPr lang="fr-FR" sz="2400" dirty="0">
                <a:latin typeface="Canva Sans Bold" panose="020B0604020202020204" charset="0"/>
              </a:rPr>
              <a:t>(PRAG </a:t>
            </a:r>
            <a:r>
              <a:rPr lang="fr-FR" sz="2400" dirty="0" err="1">
                <a:latin typeface="Canva Sans Bold" panose="020B0604020202020204" charset="0"/>
              </a:rPr>
              <a:t>LEnsE</a:t>
            </a:r>
            <a:r>
              <a:rPr lang="fr-FR" sz="2400" dirty="0">
                <a:latin typeface="Canva Sans Bold" panose="020B0604020202020204" charset="0"/>
              </a:rPr>
              <a:t>). Validation par </a:t>
            </a:r>
            <a:r>
              <a:rPr lang="fr-FR" sz="2400" b="1" dirty="0">
                <a:latin typeface="Canva Sans Bold" panose="020B0604020202020204" charset="0"/>
              </a:rPr>
              <a:t>Sébastien De ROSSI </a:t>
            </a:r>
            <a:r>
              <a:rPr lang="fr-FR" sz="2400" dirty="0">
                <a:latin typeface="Canva Sans Bold" panose="020B0604020202020204" charset="0"/>
              </a:rPr>
              <a:t>(enseignant-chercheur IOGS-LCF) et </a:t>
            </a:r>
            <a:r>
              <a:rPr lang="fr-FR" sz="2400" b="1" dirty="0">
                <a:latin typeface="Canva Sans Bold" panose="020B0604020202020204" charset="0"/>
              </a:rPr>
              <a:t>Gaëlle LUCAS-LECLIN </a:t>
            </a:r>
            <a:r>
              <a:rPr lang="fr-FR" sz="2400" dirty="0">
                <a:latin typeface="Canva Sans Bold" panose="020B0604020202020204" charset="0"/>
              </a:rPr>
              <a:t>(enseignante-chercheuse IOGS-LCF).</a:t>
            </a:r>
          </a:p>
          <a:p>
            <a:pPr algn="ctr"/>
            <a:r>
              <a:rPr lang="fr-FR" sz="2400" dirty="0">
                <a:latin typeface="Canva Sans Bold" panose="020B0604020202020204" charset="0"/>
              </a:rPr>
              <a:t>Soutien technique par </a:t>
            </a:r>
            <a:r>
              <a:rPr lang="fr-FR" sz="2400" b="1" dirty="0">
                <a:latin typeface="Canva Sans Bold" panose="020B0604020202020204" charset="0"/>
              </a:rPr>
              <a:t>Thierry AVIGNON </a:t>
            </a:r>
            <a:r>
              <a:rPr lang="fr-FR" sz="2400" dirty="0">
                <a:latin typeface="Canva Sans Bold" panose="020B0604020202020204" charset="0"/>
              </a:rPr>
              <a:t>et </a:t>
            </a:r>
            <a:r>
              <a:rPr lang="fr-FR" sz="2400" b="1" dirty="0">
                <a:latin typeface="Canva Sans Bold" panose="020B0604020202020204" charset="0"/>
              </a:rPr>
              <a:t>Cédric LEJEUNE </a:t>
            </a:r>
            <a:r>
              <a:rPr lang="fr-FR" sz="2400" dirty="0">
                <a:latin typeface="Canva Sans Bold" panose="020B0604020202020204" charset="0"/>
              </a:rPr>
              <a:t>(</a:t>
            </a:r>
            <a:r>
              <a:rPr lang="fr-FR" sz="2400" dirty="0" err="1">
                <a:latin typeface="Canva Sans Bold" panose="020B0604020202020204" charset="0"/>
              </a:rPr>
              <a:t>LEnsE</a:t>
            </a:r>
            <a:r>
              <a:rPr lang="fr-FR" sz="2400" dirty="0">
                <a:latin typeface="Canva Sans Bold" panose="020B0604020202020204" charset="0"/>
              </a:rPr>
              <a:t>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306704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</TotalTime>
  <Words>213</Words>
  <Application>Microsoft Office PowerPoint</Application>
  <PresentationFormat>Personnalisé</PresentationFormat>
  <Paragraphs>56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Canva Sans Bold</vt:lpstr>
      <vt:lpstr>Interstate-RegularCondensed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Baladi</dc:creator>
  <cp:lastModifiedBy>Julien VILLEMEJANE</cp:lastModifiedBy>
  <cp:revision>136</cp:revision>
  <cp:lastPrinted>2021-12-15T14:01:13Z</cp:lastPrinted>
  <dcterms:created xsi:type="dcterms:W3CDTF">2019-02-21T13:38:51Z</dcterms:created>
  <dcterms:modified xsi:type="dcterms:W3CDTF">2025-07-03T07:05:04Z</dcterms:modified>
</cp:coreProperties>
</file>