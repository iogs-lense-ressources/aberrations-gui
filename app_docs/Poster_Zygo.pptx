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67275" cy="42794238"/>
  <p:notesSz cx="7099300" cy="10234613"/>
  <p:defaultTextStyle>
    <a:defPPr>
      <a:defRPr lang="fr-FR"/>
    </a:defPPr>
    <a:lvl1pPr marL="0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24553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4911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573664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098217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622775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147328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67188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196439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>
          <p15:clr>
            <a:srgbClr val="A4A3A4"/>
          </p15:clr>
        </p15:guide>
        <p15:guide id="2" pos="95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14D"/>
    <a:srgbClr val="FF960A"/>
    <a:srgbClr val="DA5120"/>
    <a:srgbClr val="0A3250"/>
    <a:srgbClr val="8096AD"/>
    <a:srgbClr val="004AAD"/>
    <a:srgbClr val="B0BECC"/>
    <a:srgbClr val="00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94"/>
  </p:normalViewPr>
  <p:slideViewPr>
    <p:cSldViewPr snapToGrid="0" snapToObjects="1">
      <p:cViewPr>
        <p:scale>
          <a:sx n="50" d="100"/>
          <a:sy n="50" d="100"/>
        </p:scale>
        <p:origin x="294" y="-894"/>
      </p:cViewPr>
      <p:guideLst>
        <p:guide orient="horz" pos="2424"/>
        <p:guide pos="9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02EA-995F-4616-9BA1-28C1D6F16BD4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279525"/>
            <a:ext cx="2444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9A957-E7A6-4C57-B982-C1E71CE95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89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A957-E7A6-4C57-B982-C1E71CE956A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08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8" y="7003600"/>
            <a:ext cx="25727183" cy="14898735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1" y="22476885"/>
            <a:ext cx="22700457" cy="10332033"/>
          </a:xfrm>
        </p:spPr>
        <p:txBody>
          <a:bodyPr/>
          <a:lstStyle>
            <a:lvl1pPr marL="0" indent="0" algn="ctr">
              <a:buNone/>
              <a:defRPr sz="8300"/>
            </a:lvl1pPr>
            <a:lvl2pPr marL="1600784" indent="0" algn="ctr">
              <a:buNone/>
              <a:defRPr sz="7000"/>
            </a:lvl2pPr>
            <a:lvl3pPr marL="3201564" indent="0" algn="ctr">
              <a:buNone/>
              <a:defRPr sz="6100"/>
            </a:lvl3pPr>
            <a:lvl4pPr marL="4802348" indent="0" algn="ctr">
              <a:buNone/>
              <a:defRPr sz="5700"/>
            </a:lvl4pPr>
            <a:lvl5pPr marL="6403131" indent="0" algn="ctr">
              <a:buNone/>
              <a:defRPr sz="5700"/>
            </a:lvl5pPr>
            <a:lvl6pPr marL="8003911" indent="0" algn="ctr">
              <a:buNone/>
              <a:defRPr sz="5700"/>
            </a:lvl6pPr>
            <a:lvl7pPr marL="9604695" indent="0" algn="ctr">
              <a:buNone/>
              <a:defRPr sz="5700"/>
            </a:lvl7pPr>
            <a:lvl8pPr marL="11205475" indent="0" algn="ctr">
              <a:buNone/>
              <a:defRPr sz="5700"/>
            </a:lvl8pPr>
            <a:lvl9pPr marL="12806259" indent="0" algn="ctr">
              <a:buNone/>
              <a:defRPr sz="57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3" y="10668860"/>
            <a:ext cx="26105525" cy="17801212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3" y="28638475"/>
            <a:ext cx="26105525" cy="9361236"/>
          </a:xfrm>
        </p:spPr>
        <p:txBody>
          <a:bodyPr/>
          <a:lstStyle>
            <a:lvl1pPr marL="0" indent="0">
              <a:buNone/>
              <a:defRPr sz="8300">
                <a:solidFill>
                  <a:schemeClr val="tx1"/>
                </a:solidFill>
              </a:defRPr>
            </a:lvl1pPr>
            <a:lvl2pPr marL="1600784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2pPr>
            <a:lvl3pPr marL="3201564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4802348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4pPr>
            <a:lvl5pPr marL="640313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5pPr>
            <a:lvl6pPr marL="800391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6pPr>
            <a:lvl7pPr marL="960469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7pPr>
            <a:lvl8pPr marL="1120547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8pPr>
            <a:lvl9pPr marL="12806259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80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14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9" y="2278409"/>
            <a:ext cx="26105525" cy="8271573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4" y="10490538"/>
            <a:ext cx="12804474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4" y="15631787"/>
            <a:ext cx="12804474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2" y="10490538"/>
            <a:ext cx="12867537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2" y="15631787"/>
            <a:ext cx="12867537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90"/>
            <a:ext cx="15322811" cy="30411645"/>
          </a:xfrm>
        </p:spPr>
        <p:txBody>
          <a:bodyPr/>
          <a:lstStyle>
            <a:lvl1pPr>
              <a:defRPr sz="11400"/>
            </a:lvl1pPr>
            <a:lvl2pPr>
              <a:defRPr sz="9600"/>
            </a:lvl2pPr>
            <a:lvl3pPr>
              <a:defRPr sz="83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90"/>
            <a:ext cx="15322811" cy="30411645"/>
          </a:xfrm>
        </p:spPr>
        <p:txBody>
          <a:bodyPr anchor="t"/>
          <a:lstStyle>
            <a:lvl1pPr marL="0" indent="0">
              <a:buNone/>
              <a:defRPr sz="11400"/>
            </a:lvl1pPr>
            <a:lvl2pPr marL="1600784" indent="0">
              <a:buNone/>
              <a:defRPr sz="9600"/>
            </a:lvl2pPr>
            <a:lvl3pPr marL="3201564" indent="0">
              <a:buNone/>
              <a:defRPr sz="8300"/>
            </a:lvl3pPr>
            <a:lvl4pPr marL="4802348" indent="0">
              <a:buNone/>
              <a:defRPr sz="7000"/>
            </a:lvl4pPr>
            <a:lvl5pPr marL="6403131" indent="0">
              <a:buNone/>
              <a:defRPr sz="7000"/>
            </a:lvl5pPr>
            <a:lvl6pPr marL="8003911" indent="0">
              <a:buNone/>
              <a:defRPr sz="7000"/>
            </a:lvl6pPr>
            <a:lvl7pPr marL="9604695" indent="0">
              <a:buNone/>
              <a:defRPr sz="7000"/>
            </a:lvl7pPr>
            <a:lvl8pPr marL="11205475" indent="0">
              <a:buNone/>
              <a:defRPr sz="7000"/>
            </a:lvl8pPr>
            <a:lvl9pPr marL="12806259" indent="0">
              <a:buNone/>
              <a:defRPr sz="70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2" y="2278398"/>
            <a:ext cx="6526381" cy="36266138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8" y="2278398"/>
            <a:ext cx="19200801" cy="362661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7" y="2278409"/>
            <a:ext cx="26105525" cy="8271573"/>
          </a:xfrm>
          <a:prstGeom prst="rect">
            <a:avLst/>
          </a:prstGeom>
        </p:spPr>
        <p:txBody>
          <a:bodyPr vert="horz" lIns="304910" tIns="152457" rIns="304910" bIns="152457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7" y="11391984"/>
            <a:ext cx="26105525" cy="27152551"/>
          </a:xfrm>
          <a:prstGeom prst="rect">
            <a:avLst/>
          </a:prstGeom>
        </p:spPr>
        <p:txBody>
          <a:bodyPr vert="horz" lIns="304910" tIns="152457" rIns="304910" bIns="152457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7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l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7" y="39663925"/>
            <a:ext cx="10215205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ct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6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0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01564" rtl="0" eaLnBrk="1" latinLnBrk="0" hangingPunct="1">
        <a:lnSpc>
          <a:spcPct val="90000"/>
        </a:lnSpc>
        <a:spcBef>
          <a:spcPct val="0"/>
        </a:spcBef>
        <a:buNone/>
        <a:defRPr sz="1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392" indent="-800392" algn="l" defTabSz="3201564" rtl="0" eaLnBrk="1" latinLnBrk="0" hangingPunct="1">
        <a:lnSpc>
          <a:spcPct val="90000"/>
        </a:lnSpc>
        <a:spcBef>
          <a:spcPts val="3503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1pPr>
      <a:lvl2pPr marL="2401172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001956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2740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3519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804303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508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586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6651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78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20156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802348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40313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00391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60469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547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6259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81DB0DD-642C-7F66-B1C4-3BA37B0437AE}"/>
              </a:ext>
            </a:extLst>
          </p:cNvPr>
          <p:cNvSpPr/>
          <p:nvPr/>
        </p:nvSpPr>
        <p:spPr>
          <a:xfrm>
            <a:off x="20795969" y="9676220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601809" y="7086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23970" y="41559604"/>
            <a:ext cx="30267275" cy="1234634"/>
          </a:xfrm>
          <a:prstGeom prst="rect">
            <a:avLst/>
          </a:prstGeom>
          <a:solidFill>
            <a:srgbClr val="FF960A"/>
          </a:solidFill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Interstate-RegularCondensed"/>
                <a:cs typeface="Interstate-RegularCondensed"/>
              </a:rPr>
              <a:t>www.institutoptique.fr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7820571" y="4172838"/>
            <a:ext cx="615775" cy="1246610"/>
          </a:xfrm>
          <a:prstGeom prst="rect">
            <a:avLst/>
          </a:prstGeom>
          <a:noFill/>
        </p:spPr>
        <p:txBody>
          <a:bodyPr wrap="none" lIns="304910" tIns="152457" rIns="304910" bIns="152457" rtlCol="0">
            <a:spAutoFit/>
          </a:bodyPr>
          <a:lstStyle/>
          <a:p>
            <a:endParaRPr lang="fr-FR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4554" y="697906"/>
            <a:ext cx="6327255" cy="2604566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CE37D2C-8DC5-8228-DE8A-0C965A3D6CDC}"/>
              </a:ext>
            </a:extLst>
          </p:cNvPr>
          <p:cNvSpPr/>
          <p:nvPr/>
        </p:nvSpPr>
        <p:spPr>
          <a:xfrm flipV="1">
            <a:off x="795896" y="37514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id="{1D6097BC-2A5F-9089-06F4-31C224A5E883}"/>
              </a:ext>
            </a:extLst>
          </p:cNvPr>
          <p:cNvSpPr txBox="1"/>
          <p:nvPr/>
        </p:nvSpPr>
        <p:spPr>
          <a:xfrm>
            <a:off x="11340463" y="2763486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Controles</a:t>
            </a: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interférométriques</a:t>
            </a: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/ Aberrations</a:t>
            </a:r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DB5FC059-25EE-1B33-725B-37F7262F9299}"/>
              </a:ext>
            </a:extLst>
          </p:cNvPr>
          <p:cNvSpPr/>
          <p:nvPr/>
        </p:nvSpPr>
        <p:spPr>
          <a:xfrm>
            <a:off x="10473115" y="30386458"/>
            <a:ext cx="3622086" cy="956161"/>
          </a:xfrm>
          <a:prstGeom prst="line">
            <a:avLst/>
          </a:prstGeom>
          <a:ln w="76200" cap="flat">
            <a:solidFill>
              <a:srgbClr val="001934">
                <a:alpha val="62745"/>
              </a:srgbClr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8E2D142D-1DAA-FA3E-BD8D-079472B069D7}"/>
              </a:ext>
            </a:extLst>
          </p:cNvPr>
          <p:cNvSpPr/>
          <p:nvPr/>
        </p:nvSpPr>
        <p:spPr>
          <a:xfrm>
            <a:off x="4150055" y="22722509"/>
            <a:ext cx="9971749" cy="6833160"/>
          </a:xfrm>
          <a:custGeom>
            <a:avLst/>
            <a:gdLst/>
            <a:ahLst/>
            <a:cxnLst/>
            <a:rect l="l" t="t" r="r" b="b"/>
            <a:pathLst>
              <a:path w="2583352" h="1562921">
                <a:moveTo>
                  <a:pt x="0" y="0"/>
                </a:moveTo>
                <a:lnTo>
                  <a:pt x="2583352" y="0"/>
                </a:lnTo>
                <a:lnTo>
                  <a:pt x="2583352" y="1562921"/>
                </a:lnTo>
                <a:lnTo>
                  <a:pt x="0" y="15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3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1A9A4ED3-FEE0-4770-CF0A-3B1EBC9DDEB8}"/>
              </a:ext>
            </a:extLst>
          </p:cNvPr>
          <p:cNvSpPr/>
          <p:nvPr/>
        </p:nvSpPr>
        <p:spPr>
          <a:xfrm>
            <a:off x="14569672" y="29132422"/>
            <a:ext cx="6305129" cy="3985373"/>
          </a:xfrm>
          <a:custGeom>
            <a:avLst/>
            <a:gdLst/>
            <a:ahLst/>
            <a:cxnLst/>
            <a:rect l="l" t="t" r="r" b="b"/>
            <a:pathLst>
              <a:path w="2562717" h="1550325">
                <a:moveTo>
                  <a:pt x="0" y="0"/>
                </a:moveTo>
                <a:lnTo>
                  <a:pt x="2562717" y="0"/>
                </a:lnTo>
                <a:lnTo>
                  <a:pt x="2562717" y="1550326"/>
                </a:lnTo>
                <a:lnTo>
                  <a:pt x="0" y="155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69" t="-50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EA3385FB-4823-B06E-5AAD-A1DCF44E0708}"/>
              </a:ext>
            </a:extLst>
          </p:cNvPr>
          <p:cNvSpPr txBox="1"/>
          <p:nvPr/>
        </p:nvSpPr>
        <p:spPr>
          <a:xfrm>
            <a:off x="21774951" y="22638773"/>
            <a:ext cx="7272896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L’ </a:t>
            </a:r>
            <a:r>
              <a:rPr lang="en-US" sz="36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</a:t>
            </a:r>
            <a:r>
              <a:rPr lang="en-US" sz="36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Hariharan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sert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à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mesurer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précisément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formes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analysant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plusieurs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images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d’interférences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avec un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léger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décalage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entre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elles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ici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 images avec un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décalage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phase de π/2 entre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chaque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image)</a:t>
            </a:r>
          </a:p>
          <a:p>
            <a:pPr algn="l">
              <a:spcBef>
                <a:spcPct val="0"/>
              </a:spcBef>
            </a:pPr>
            <a:endParaRPr lang="en-US" sz="36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8" name="Freeform 27">
            <a:extLst>
              <a:ext uri="{FF2B5EF4-FFF2-40B4-BE49-F238E27FC236}">
                <a16:creationId xmlns:a16="http://schemas.microsoft.com/office/drawing/2014/main" id="{2DDFA2EE-0975-0917-39AE-5804037E7D96}"/>
              </a:ext>
            </a:extLst>
          </p:cNvPr>
          <p:cNvSpPr/>
          <p:nvPr/>
        </p:nvSpPr>
        <p:spPr>
          <a:xfrm>
            <a:off x="24924935" y="26453296"/>
            <a:ext cx="4206853" cy="2420461"/>
          </a:xfrm>
          <a:custGeom>
            <a:avLst/>
            <a:gdLst/>
            <a:ahLst/>
            <a:cxnLst/>
            <a:rect l="l" t="t" r="r" b="b"/>
            <a:pathLst>
              <a:path w="2161529" h="1178033">
                <a:moveTo>
                  <a:pt x="0" y="0"/>
                </a:moveTo>
                <a:lnTo>
                  <a:pt x="2161529" y="0"/>
                </a:lnTo>
                <a:lnTo>
                  <a:pt x="2161529" y="1178033"/>
                </a:lnTo>
                <a:lnTo>
                  <a:pt x="0" y="1178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7946547F-7D89-1588-305C-5E1D2026C523}"/>
              </a:ext>
            </a:extLst>
          </p:cNvPr>
          <p:cNvSpPr/>
          <p:nvPr/>
        </p:nvSpPr>
        <p:spPr>
          <a:xfrm>
            <a:off x="21651914" y="36695812"/>
            <a:ext cx="6027759" cy="2982277"/>
          </a:xfrm>
          <a:custGeom>
            <a:avLst/>
            <a:gdLst/>
            <a:ahLst/>
            <a:cxnLst/>
            <a:rect l="l" t="t" r="r" b="b"/>
            <a:pathLst>
              <a:path w="2171513" h="1077613">
                <a:moveTo>
                  <a:pt x="0" y="0"/>
                </a:moveTo>
                <a:lnTo>
                  <a:pt x="2171513" y="0"/>
                </a:lnTo>
                <a:lnTo>
                  <a:pt x="2171513" y="1077613"/>
                </a:lnTo>
                <a:lnTo>
                  <a:pt x="0" y="10776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1" name="Freeform 40">
            <a:extLst>
              <a:ext uri="{FF2B5EF4-FFF2-40B4-BE49-F238E27FC236}">
                <a16:creationId xmlns:a16="http://schemas.microsoft.com/office/drawing/2014/main" id="{C3E8EBC3-7146-496C-BE56-7C05CAF0665A}"/>
              </a:ext>
            </a:extLst>
          </p:cNvPr>
          <p:cNvSpPr/>
          <p:nvPr/>
        </p:nvSpPr>
        <p:spPr>
          <a:xfrm>
            <a:off x="22887608" y="40635023"/>
            <a:ext cx="4165020" cy="919763"/>
          </a:xfrm>
          <a:custGeom>
            <a:avLst/>
            <a:gdLst/>
            <a:ahLst/>
            <a:cxnLst/>
            <a:rect l="l" t="t" r="r" b="b"/>
            <a:pathLst>
              <a:path w="2901441" h="710853">
                <a:moveTo>
                  <a:pt x="0" y="0"/>
                </a:moveTo>
                <a:lnTo>
                  <a:pt x="2901440" y="0"/>
                </a:lnTo>
                <a:lnTo>
                  <a:pt x="2901440" y="710853"/>
                </a:lnTo>
                <a:lnTo>
                  <a:pt x="0" y="7108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4" name="Freeform 41">
            <a:extLst>
              <a:ext uri="{FF2B5EF4-FFF2-40B4-BE49-F238E27FC236}">
                <a16:creationId xmlns:a16="http://schemas.microsoft.com/office/drawing/2014/main" id="{1D983DB5-65DB-B3C9-7316-A77FF73F5934}"/>
              </a:ext>
            </a:extLst>
          </p:cNvPr>
          <p:cNvSpPr/>
          <p:nvPr/>
        </p:nvSpPr>
        <p:spPr>
          <a:xfrm>
            <a:off x="22626289" y="31001998"/>
            <a:ext cx="5929239" cy="3161283"/>
          </a:xfrm>
          <a:custGeom>
            <a:avLst/>
            <a:gdLst/>
            <a:ahLst/>
            <a:cxnLst/>
            <a:rect l="l" t="t" r="r" b="b"/>
            <a:pathLst>
              <a:path w="2160000" h="1085400">
                <a:moveTo>
                  <a:pt x="0" y="0"/>
                </a:moveTo>
                <a:lnTo>
                  <a:pt x="2160000" y="0"/>
                </a:lnTo>
                <a:lnTo>
                  <a:pt x="2160000" y="1085400"/>
                </a:lnTo>
                <a:lnTo>
                  <a:pt x="0" y="108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2" name="Freeform 49">
            <a:extLst>
              <a:ext uri="{FF2B5EF4-FFF2-40B4-BE49-F238E27FC236}">
                <a16:creationId xmlns:a16="http://schemas.microsoft.com/office/drawing/2014/main" id="{66C2E2B2-256B-087A-2EF5-8F5012E03380}"/>
              </a:ext>
            </a:extLst>
          </p:cNvPr>
          <p:cNvSpPr/>
          <p:nvPr/>
        </p:nvSpPr>
        <p:spPr>
          <a:xfrm>
            <a:off x="14778901" y="21381062"/>
            <a:ext cx="4946072" cy="6374355"/>
          </a:xfrm>
          <a:custGeom>
            <a:avLst/>
            <a:gdLst/>
            <a:ahLst/>
            <a:cxnLst/>
            <a:rect l="l" t="t" r="r" b="b"/>
            <a:pathLst>
              <a:path w="1255392" h="1562921">
                <a:moveTo>
                  <a:pt x="0" y="0"/>
                </a:moveTo>
                <a:lnTo>
                  <a:pt x="1255393" y="0"/>
                </a:lnTo>
                <a:lnTo>
                  <a:pt x="1255393" y="1562921"/>
                </a:lnTo>
                <a:lnTo>
                  <a:pt x="0" y="1562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691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4" name="Freeform 51">
            <a:extLst>
              <a:ext uri="{FF2B5EF4-FFF2-40B4-BE49-F238E27FC236}">
                <a16:creationId xmlns:a16="http://schemas.microsoft.com/office/drawing/2014/main" id="{ECE3D13D-F460-5896-1591-E7AC0B5ADEAD}"/>
              </a:ext>
            </a:extLst>
          </p:cNvPr>
          <p:cNvSpPr/>
          <p:nvPr/>
        </p:nvSpPr>
        <p:spPr>
          <a:xfrm>
            <a:off x="6023653" y="35425258"/>
            <a:ext cx="6384561" cy="5661011"/>
          </a:xfrm>
          <a:custGeom>
            <a:avLst/>
            <a:gdLst/>
            <a:ahLst/>
            <a:cxnLst/>
            <a:rect l="l" t="t" r="r" b="b"/>
            <a:pathLst>
              <a:path w="1789690" h="1455253">
                <a:moveTo>
                  <a:pt x="0" y="0"/>
                </a:moveTo>
                <a:lnTo>
                  <a:pt x="1789690" y="0"/>
                </a:lnTo>
                <a:lnTo>
                  <a:pt x="1789690" y="1455253"/>
                </a:lnTo>
                <a:lnTo>
                  <a:pt x="0" y="1455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8" name="TextBox 57">
            <a:extLst>
              <a:ext uri="{FF2B5EF4-FFF2-40B4-BE49-F238E27FC236}">
                <a16:creationId xmlns:a16="http://schemas.microsoft.com/office/drawing/2014/main" id="{275838FB-D565-DA4E-C8B4-A93C9E148CD6}"/>
              </a:ext>
            </a:extLst>
          </p:cNvPr>
          <p:cNvSpPr txBox="1"/>
          <p:nvPr/>
        </p:nvSpPr>
        <p:spPr>
          <a:xfrm>
            <a:off x="1642583" y="6689598"/>
            <a:ext cx="5009597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540" lvl="1" algn="just"/>
            <a:r>
              <a:rPr lang="en-US" sz="3600" b="1" dirty="0">
                <a:solidFill>
                  <a:srgbClr val="0A32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Principe</a:t>
            </a:r>
          </a:p>
          <a:p>
            <a:pPr marL="129540" lvl="1" algn="just"/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Comparer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onde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réfléchie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l’échantillon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à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onde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référence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marL="129540" lvl="1" algn="just"/>
            <a:endParaRPr lang="en-US" sz="36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29540" lvl="1" algn="just"/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création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franges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d’interférence</a:t>
            </a:r>
            <a:endParaRPr lang="en-US" sz="36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3" name="TextBox 62">
            <a:extLst>
              <a:ext uri="{FF2B5EF4-FFF2-40B4-BE49-F238E27FC236}">
                <a16:creationId xmlns:a16="http://schemas.microsoft.com/office/drawing/2014/main" id="{0AD72023-8A2A-96F7-51B6-68F97D9DB2E6}"/>
              </a:ext>
            </a:extLst>
          </p:cNvPr>
          <p:cNvSpPr txBox="1"/>
          <p:nvPr/>
        </p:nvSpPr>
        <p:spPr>
          <a:xfrm>
            <a:off x="6652180" y="29600257"/>
            <a:ext cx="805661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Capture </a:t>
            </a:r>
            <a:r>
              <a:rPr lang="en-US" sz="32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d’image</a:t>
            </a:r>
            <a:r>
              <a:rPr lang="en-US" sz="32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depuis</a:t>
            </a:r>
            <a:r>
              <a:rPr lang="en-US" sz="32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 camera</a:t>
            </a:r>
          </a:p>
        </p:txBody>
      </p:sp>
      <p:sp>
        <p:nvSpPr>
          <p:cNvPr id="74" name="TextBox 63">
            <a:extLst>
              <a:ext uri="{FF2B5EF4-FFF2-40B4-BE49-F238E27FC236}">
                <a16:creationId xmlns:a16="http://schemas.microsoft.com/office/drawing/2014/main" id="{BB9F6651-7ABF-B11E-5299-F66618385F5B}"/>
              </a:ext>
            </a:extLst>
          </p:cNvPr>
          <p:cNvSpPr txBox="1"/>
          <p:nvPr/>
        </p:nvSpPr>
        <p:spPr>
          <a:xfrm>
            <a:off x="14095201" y="27871454"/>
            <a:ext cx="6374574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dirty="0" err="1">
                <a:solidFill>
                  <a:srgbClr val="DA5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Ouverture</a:t>
            </a:r>
            <a:r>
              <a:rPr lang="en-US" sz="3200" b="1" dirty="0">
                <a:solidFill>
                  <a:srgbClr val="DA5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d’un set </a:t>
            </a:r>
            <a:r>
              <a:rPr lang="en-US" sz="3200" b="1" dirty="0" err="1">
                <a:solidFill>
                  <a:srgbClr val="DA5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d’image</a:t>
            </a:r>
            <a:endParaRPr lang="en-US" sz="3200" b="1" dirty="0">
              <a:solidFill>
                <a:srgbClr val="DA512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9" name="TextBox 68">
            <a:extLst>
              <a:ext uri="{FF2B5EF4-FFF2-40B4-BE49-F238E27FC236}">
                <a16:creationId xmlns:a16="http://schemas.microsoft.com/office/drawing/2014/main" id="{8C1CBB77-C614-93AD-E747-043335542386}"/>
              </a:ext>
            </a:extLst>
          </p:cNvPr>
          <p:cNvSpPr txBox="1"/>
          <p:nvPr/>
        </p:nvSpPr>
        <p:spPr>
          <a:xfrm>
            <a:off x="21962593" y="29132422"/>
            <a:ext cx="7169195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applique ensuite un </a:t>
            </a:r>
            <a:r>
              <a:rPr lang="en-US" sz="36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</a:t>
            </a:r>
            <a:r>
              <a:rPr lang="en-US" sz="36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6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déroulement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la phase pour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reconstruire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phase continue.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CD39C7D-24C2-D83D-5734-4C17A7682193}"/>
              </a:ext>
            </a:extLst>
          </p:cNvPr>
          <p:cNvSpPr txBox="1"/>
          <p:nvPr/>
        </p:nvSpPr>
        <p:spPr>
          <a:xfrm>
            <a:off x="1274554" y="5127354"/>
            <a:ext cx="180133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just"/>
            <a:r>
              <a:rPr lang="en-US" sz="40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Instrument pour </a:t>
            </a:r>
            <a:r>
              <a:rPr lang="en-US" sz="40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mesurer</a:t>
            </a:r>
            <a:r>
              <a:rPr lang="en-US" sz="40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 états de surfaces </a:t>
            </a:r>
            <a:r>
              <a:rPr lang="en-US" sz="40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avec </a:t>
            </a:r>
            <a:r>
              <a:rPr lang="en-US" sz="40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40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0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précision</a:t>
            </a:r>
            <a:r>
              <a:rPr lang="en-US" sz="40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000" b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nanométrique</a:t>
            </a:r>
            <a:r>
              <a:rPr lang="en-US" sz="40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grpSp>
        <p:nvGrpSpPr>
          <p:cNvPr id="127" name="Groupe 126">
            <a:extLst>
              <a:ext uri="{FF2B5EF4-FFF2-40B4-BE49-F238E27FC236}">
                <a16:creationId xmlns:a16="http://schemas.microsoft.com/office/drawing/2014/main" id="{59805D97-FB2C-8856-2B6D-836B5619DEEA}"/>
              </a:ext>
            </a:extLst>
          </p:cNvPr>
          <p:cNvGrpSpPr/>
          <p:nvPr/>
        </p:nvGrpSpPr>
        <p:grpSpPr>
          <a:xfrm>
            <a:off x="6732938" y="6295271"/>
            <a:ext cx="13149223" cy="8983688"/>
            <a:chOff x="6438370" y="8139460"/>
            <a:chExt cx="10472012" cy="6811607"/>
          </a:xfrm>
        </p:grpSpPr>
        <p:pic>
          <p:nvPicPr>
            <p:cNvPr id="89" name="Image 88">
              <a:extLst>
                <a:ext uri="{FF2B5EF4-FFF2-40B4-BE49-F238E27FC236}">
                  <a16:creationId xmlns:a16="http://schemas.microsoft.com/office/drawing/2014/main" id="{E66D6AB0-4948-0CB4-BA6E-1DDE123A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602008" y="8139460"/>
              <a:ext cx="9308374" cy="6653732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55F6556-F894-C578-382F-1E2E5F9CE69D}"/>
                </a:ext>
              </a:extLst>
            </p:cNvPr>
            <p:cNvSpPr/>
            <p:nvPr/>
          </p:nvSpPr>
          <p:spPr>
            <a:xfrm>
              <a:off x="8943955" y="11406572"/>
              <a:ext cx="1670223" cy="28789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1" name="Graphique 90" descr="Ordinateur avec un remplissage uni">
              <a:extLst>
                <a:ext uri="{FF2B5EF4-FFF2-40B4-BE49-F238E27FC236}">
                  <a16:creationId xmlns:a16="http://schemas.microsoft.com/office/drawing/2014/main" id="{2645A431-72E1-B692-1B17-D757900E1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38370" y="10956596"/>
              <a:ext cx="3994471" cy="3994471"/>
            </a:xfrm>
            <a:prstGeom prst="rect">
              <a:avLst/>
            </a:prstGeom>
          </p:spPr>
        </p:pic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7E91E032-FBDA-FC08-ECFD-7069DE1BF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806438" y="12118058"/>
              <a:ext cx="1961593" cy="1161309"/>
            </a:xfrm>
            <a:prstGeom prst="rect">
              <a:avLst/>
            </a:prstGeom>
          </p:spPr>
        </p:pic>
        <p:sp>
          <p:nvSpPr>
            <p:cNvPr id="97" name="AutoShape 16">
              <a:extLst>
                <a:ext uri="{FF2B5EF4-FFF2-40B4-BE49-F238E27FC236}">
                  <a16:creationId xmlns:a16="http://schemas.microsoft.com/office/drawing/2014/main" id="{70AEFAFA-6E4A-6C68-1519-A4DFE5EB454D}"/>
                </a:ext>
              </a:extLst>
            </p:cNvPr>
            <p:cNvSpPr/>
            <p:nvPr/>
          </p:nvSpPr>
          <p:spPr>
            <a:xfrm flipH="1" flipV="1">
              <a:off x="8612021" y="9264840"/>
              <a:ext cx="1041447" cy="2515980"/>
            </a:xfrm>
            <a:prstGeom prst="line">
              <a:avLst/>
            </a:prstGeom>
            <a:ln w="76200" cap="flat">
              <a:solidFill>
                <a:srgbClr val="001934">
                  <a:alpha val="62745"/>
                </a:srgbClr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AutoShape 16">
              <a:extLst>
                <a:ext uri="{FF2B5EF4-FFF2-40B4-BE49-F238E27FC236}">
                  <a16:creationId xmlns:a16="http://schemas.microsoft.com/office/drawing/2014/main" id="{B2FF1BC3-8807-7889-E3F8-843731A458D0}"/>
                </a:ext>
              </a:extLst>
            </p:cNvPr>
            <p:cNvSpPr/>
            <p:nvPr/>
          </p:nvSpPr>
          <p:spPr>
            <a:xfrm>
              <a:off x="10432841" y="12846590"/>
              <a:ext cx="704472" cy="780793"/>
            </a:xfrm>
            <a:prstGeom prst="line">
              <a:avLst/>
            </a:prstGeom>
            <a:ln w="76200" cap="flat">
              <a:solidFill>
                <a:srgbClr val="001934">
                  <a:alpha val="62745"/>
                </a:srgbClr>
              </a:solidFill>
              <a:prstDash val="sysDot"/>
              <a:headEnd type="arrow" w="sm" len="sm"/>
              <a:tailEnd type="arrow" w="med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9" name="TextBox 57">
            <a:extLst>
              <a:ext uri="{FF2B5EF4-FFF2-40B4-BE49-F238E27FC236}">
                <a16:creationId xmlns:a16="http://schemas.microsoft.com/office/drawing/2014/main" id="{27B3F73F-BE01-0CE7-943A-54F22C1B3EED}"/>
              </a:ext>
            </a:extLst>
          </p:cNvPr>
          <p:cNvSpPr txBox="1"/>
          <p:nvPr/>
        </p:nvSpPr>
        <p:spPr>
          <a:xfrm>
            <a:off x="1640628" y="11520883"/>
            <a:ext cx="4857672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540" lvl="1" algn="just"/>
            <a:r>
              <a:rPr lang="en-US" sz="3600" b="1" dirty="0">
                <a:solidFill>
                  <a:srgbClr val="0A32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Interface de </a:t>
            </a:r>
            <a:r>
              <a:rPr lang="en-US" sz="3600" b="1" dirty="0" err="1">
                <a:solidFill>
                  <a:srgbClr val="0A32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</a:t>
            </a:r>
            <a:endParaRPr lang="en-US" sz="3600" b="1" dirty="0">
              <a:solidFill>
                <a:srgbClr val="0A325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29540" lvl="1" algn="just"/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 position de la cale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piézoélectrique</a:t>
            </a:r>
            <a:endParaRPr lang="en-US" sz="36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86740" lvl="1" indent="-457200" algn="just">
              <a:buFontTx/>
              <a:buChar char="-"/>
            </a:pP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Récupérer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les images des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franges</a:t>
            </a:r>
            <a:endParaRPr lang="en-US" sz="36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86740" lvl="1" indent="-457200" algn="just">
              <a:buFontTx/>
              <a:buChar char="-"/>
            </a:pP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Traiter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les images</a:t>
            </a:r>
          </a:p>
          <a:p>
            <a:pPr marL="586740" lvl="1" indent="-457200" algn="just">
              <a:buFontTx/>
              <a:buChar char="-"/>
            </a:pP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Afficher</a:t>
            </a:r>
            <a:r>
              <a:rPr lang="en-US" sz="36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les </a:t>
            </a:r>
            <a:r>
              <a:rPr lang="en-US" sz="36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résultats</a:t>
            </a:r>
            <a:endParaRPr lang="en-US" sz="32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03" name="Image 102">
            <a:extLst>
              <a:ext uri="{FF2B5EF4-FFF2-40B4-BE49-F238E27FC236}">
                <a16:creationId xmlns:a16="http://schemas.microsoft.com/office/drawing/2014/main" id="{65A293B0-2D1D-368B-E38F-1C87483402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1994" y="23652005"/>
            <a:ext cx="2528712" cy="7435619"/>
          </a:xfrm>
          <a:prstGeom prst="rect">
            <a:avLst/>
          </a:prstGeom>
        </p:spPr>
      </p:pic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7CE51007-5339-A8C0-7943-1304AC02780D}"/>
              </a:ext>
            </a:extLst>
          </p:cNvPr>
          <p:cNvSpPr/>
          <p:nvPr/>
        </p:nvSpPr>
        <p:spPr>
          <a:xfrm>
            <a:off x="20874801" y="5381049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6260028F-0B78-F4EE-7740-0DF4ED09B6D4}"/>
              </a:ext>
            </a:extLst>
          </p:cNvPr>
          <p:cNvSpPr txBox="1"/>
          <p:nvPr/>
        </p:nvSpPr>
        <p:spPr>
          <a:xfrm>
            <a:off x="20492755" y="6330185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Sélection des images / Gestion des masques</a:t>
            </a:r>
          </a:p>
        </p:txBody>
      </p:sp>
      <p:sp>
        <p:nvSpPr>
          <p:cNvPr id="107" name="Rectangle : coins arrondis 106">
            <a:extLst>
              <a:ext uri="{FF2B5EF4-FFF2-40B4-BE49-F238E27FC236}">
                <a16:creationId xmlns:a16="http://schemas.microsoft.com/office/drawing/2014/main" id="{6DAD2D0C-4F85-D8DD-BE38-632AB54C0FAF}"/>
              </a:ext>
            </a:extLst>
          </p:cNvPr>
          <p:cNvSpPr/>
          <p:nvPr/>
        </p:nvSpPr>
        <p:spPr>
          <a:xfrm>
            <a:off x="20874429" y="7524329"/>
            <a:ext cx="7337572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90015255-C35C-C713-A97A-02F4FEA25DC6}"/>
              </a:ext>
            </a:extLst>
          </p:cNvPr>
          <p:cNvSpPr txBox="1"/>
          <p:nvPr/>
        </p:nvSpPr>
        <p:spPr>
          <a:xfrm>
            <a:off x="20537656" y="8501519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 de Hariharan / Correction (tilt)</a:t>
            </a:r>
          </a:p>
        </p:txBody>
      </p:sp>
      <p:grpSp>
        <p:nvGrpSpPr>
          <p:cNvPr id="109" name="Group 12">
            <a:extLst>
              <a:ext uri="{FF2B5EF4-FFF2-40B4-BE49-F238E27FC236}">
                <a16:creationId xmlns:a16="http://schemas.microsoft.com/office/drawing/2014/main" id="{788732A7-67F2-A860-64E0-8A9F6D0A6B3E}"/>
              </a:ext>
            </a:extLst>
          </p:cNvPr>
          <p:cNvGrpSpPr/>
          <p:nvPr/>
        </p:nvGrpSpPr>
        <p:grpSpPr>
          <a:xfrm rot="5400000">
            <a:off x="24281604" y="8319656"/>
            <a:ext cx="523220" cy="1920607"/>
            <a:chOff x="0" y="0"/>
            <a:chExt cx="406400" cy="406400"/>
          </a:xfrm>
        </p:grpSpPr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C5C801E3-1F6F-7C84-B773-EC17A3AF5953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1" name="TextBox 14">
              <a:extLst>
                <a:ext uri="{FF2B5EF4-FFF2-40B4-BE49-F238E27FC236}">
                  <a16:creationId xmlns:a16="http://schemas.microsoft.com/office/drawing/2014/main" id="{B84D1237-1B6B-7FFD-998C-0C005C7754F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A0E40E9B-725F-DF12-0318-D21606CCA058}"/>
              </a:ext>
            </a:extLst>
          </p:cNvPr>
          <p:cNvSpPr/>
          <p:nvPr/>
        </p:nvSpPr>
        <p:spPr>
          <a:xfrm>
            <a:off x="20829528" y="10878903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710C76C9-AFEC-E64F-4DAB-F1C94088C1CF}"/>
              </a:ext>
            </a:extLst>
          </p:cNvPr>
          <p:cNvSpPr/>
          <p:nvPr/>
        </p:nvSpPr>
        <p:spPr>
          <a:xfrm>
            <a:off x="21827611" y="12118722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Coefficients Zernike</a:t>
            </a: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8DD64AE8-7083-74A1-2748-900D59F3F921}"/>
              </a:ext>
            </a:extLst>
          </p:cNvPr>
          <p:cNvSpPr/>
          <p:nvPr/>
        </p:nvSpPr>
        <p:spPr>
          <a:xfrm>
            <a:off x="21827609" y="12830868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7664ED7D-A51E-D703-3E63-D82155B90C69}"/>
              </a:ext>
            </a:extLst>
          </p:cNvPr>
          <p:cNvSpPr/>
          <p:nvPr/>
        </p:nvSpPr>
        <p:spPr>
          <a:xfrm>
            <a:off x="21827611" y="13765092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07B699A1-087B-B8FA-254E-5464AAED5A54}"/>
              </a:ext>
            </a:extLst>
          </p:cNvPr>
          <p:cNvSpPr/>
          <p:nvPr/>
        </p:nvSpPr>
        <p:spPr>
          <a:xfrm>
            <a:off x="21827608" y="14531162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FTM</a:t>
            </a:r>
          </a:p>
        </p:txBody>
      </p:sp>
      <p:grpSp>
        <p:nvGrpSpPr>
          <p:cNvPr id="120" name="Group 12">
            <a:extLst>
              <a:ext uri="{FF2B5EF4-FFF2-40B4-BE49-F238E27FC236}">
                <a16:creationId xmlns:a16="http://schemas.microsoft.com/office/drawing/2014/main" id="{61444A8C-4FBF-4015-384E-8D16E9D0B44D}"/>
              </a:ext>
            </a:extLst>
          </p:cNvPr>
          <p:cNvGrpSpPr/>
          <p:nvPr/>
        </p:nvGrpSpPr>
        <p:grpSpPr>
          <a:xfrm>
            <a:off x="20919529" y="12154771"/>
            <a:ext cx="662841" cy="1231107"/>
            <a:chOff x="0" y="0"/>
            <a:chExt cx="406400" cy="406400"/>
          </a:xfrm>
        </p:grpSpPr>
        <p:sp>
          <p:nvSpPr>
            <p:cNvPr id="121" name="Freeform 13">
              <a:extLst>
                <a:ext uri="{FF2B5EF4-FFF2-40B4-BE49-F238E27FC236}">
                  <a16:creationId xmlns:a16="http://schemas.microsoft.com/office/drawing/2014/main" id="{43286417-A96E-771F-D649-C25DC338CB47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TextBox 14">
              <a:extLst>
                <a:ext uri="{FF2B5EF4-FFF2-40B4-BE49-F238E27FC236}">
                  <a16:creationId xmlns:a16="http://schemas.microsoft.com/office/drawing/2014/main" id="{1C34E6F0-ACEC-EB2F-1851-6D890301FFBF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FE86010-BDAA-5190-B631-3CA5AB8C228B}"/>
              </a:ext>
            </a:extLst>
          </p:cNvPr>
          <p:cNvSpPr txBox="1"/>
          <p:nvPr/>
        </p:nvSpPr>
        <p:spPr>
          <a:xfrm>
            <a:off x="1504524" y="4076292"/>
            <a:ext cx="6896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>
                <a:solidFill>
                  <a:srgbClr val="004AAD"/>
                </a:solidFill>
                <a:latin typeface="Canva Sans Bold" panose="020B0604020202020204" charset="0"/>
              </a:rPr>
              <a:t>Interféromètre de </a:t>
            </a:r>
            <a:r>
              <a:rPr lang="fr-FR" sz="4800" b="1" dirty="0" err="1">
                <a:solidFill>
                  <a:srgbClr val="004AAD"/>
                </a:solidFill>
                <a:latin typeface="Canva Sans Bold" panose="020B0604020202020204" charset="0"/>
              </a:rPr>
              <a:t>Zygo</a:t>
            </a:r>
            <a:endParaRPr lang="fr-FR" sz="4800" b="1" dirty="0">
              <a:solidFill>
                <a:srgbClr val="004AAD"/>
              </a:solidFill>
              <a:latin typeface="Canva Sans Bold" panose="020B0604020202020204" charset="0"/>
            </a:endParaRP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83135A3-BC71-0618-77D3-D6A83234795A}"/>
              </a:ext>
            </a:extLst>
          </p:cNvPr>
          <p:cNvSpPr txBox="1"/>
          <p:nvPr/>
        </p:nvSpPr>
        <p:spPr>
          <a:xfrm>
            <a:off x="20795969" y="4279936"/>
            <a:ext cx="62472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>
                <a:solidFill>
                  <a:srgbClr val="004AAD"/>
                </a:solidFill>
                <a:latin typeface="Canva Sans Bold" panose="020B0604020202020204" charset="0"/>
              </a:rPr>
              <a:t>Etapes de traitement</a:t>
            </a:r>
          </a:p>
        </p:txBody>
      </p:sp>
      <p:sp>
        <p:nvSpPr>
          <p:cNvPr id="141" name="AutoShape 2">
            <a:extLst>
              <a:ext uri="{FF2B5EF4-FFF2-40B4-BE49-F238E27FC236}">
                <a16:creationId xmlns:a16="http://schemas.microsoft.com/office/drawing/2014/main" id="{625CA656-E477-230D-4B29-6E524F985846}"/>
              </a:ext>
            </a:extLst>
          </p:cNvPr>
          <p:cNvSpPr/>
          <p:nvPr/>
        </p:nvSpPr>
        <p:spPr>
          <a:xfrm flipV="1">
            <a:off x="760651" y="15781239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9D624829-81E9-F732-D8A4-001ED005D55E}"/>
              </a:ext>
            </a:extLst>
          </p:cNvPr>
          <p:cNvSpPr/>
          <p:nvPr/>
        </p:nvSpPr>
        <p:spPr>
          <a:xfrm>
            <a:off x="4098359" y="21251739"/>
            <a:ext cx="7337572" cy="109011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145" name="TextBox 62">
            <a:extLst>
              <a:ext uri="{FF2B5EF4-FFF2-40B4-BE49-F238E27FC236}">
                <a16:creationId xmlns:a16="http://schemas.microsoft.com/office/drawing/2014/main" id="{898408F9-FC14-80B7-C5EB-38E544B07D86}"/>
              </a:ext>
            </a:extLst>
          </p:cNvPr>
          <p:cNvSpPr txBox="1"/>
          <p:nvPr/>
        </p:nvSpPr>
        <p:spPr>
          <a:xfrm>
            <a:off x="8147365" y="32526010"/>
            <a:ext cx="805661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Gestion des masques</a:t>
            </a:r>
          </a:p>
        </p:txBody>
      </p:sp>
      <p:sp>
        <p:nvSpPr>
          <p:cNvPr id="146" name="AutoShape 17">
            <a:extLst>
              <a:ext uri="{FF2B5EF4-FFF2-40B4-BE49-F238E27FC236}">
                <a16:creationId xmlns:a16="http://schemas.microsoft.com/office/drawing/2014/main" id="{439FDCFE-0C52-9F4D-4D7A-F0A8C28A98E5}"/>
              </a:ext>
            </a:extLst>
          </p:cNvPr>
          <p:cNvSpPr/>
          <p:nvPr/>
        </p:nvSpPr>
        <p:spPr>
          <a:xfrm>
            <a:off x="17073535" y="28465190"/>
            <a:ext cx="277477" cy="667232"/>
          </a:xfrm>
          <a:prstGeom prst="line">
            <a:avLst/>
          </a:prstGeom>
          <a:ln w="76200" cap="flat">
            <a:solidFill>
              <a:srgbClr val="001934">
                <a:alpha val="62745"/>
              </a:srgbClr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7" name="Rectangle : coins arrondis 146">
            <a:extLst>
              <a:ext uri="{FF2B5EF4-FFF2-40B4-BE49-F238E27FC236}">
                <a16:creationId xmlns:a16="http://schemas.microsoft.com/office/drawing/2014/main" id="{258A60B4-573C-8D7D-4B32-7FCCC9CD8845}"/>
              </a:ext>
            </a:extLst>
          </p:cNvPr>
          <p:cNvSpPr/>
          <p:nvPr/>
        </p:nvSpPr>
        <p:spPr>
          <a:xfrm>
            <a:off x="21710275" y="21288939"/>
            <a:ext cx="7337572" cy="109011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grpSp>
        <p:nvGrpSpPr>
          <p:cNvPr id="148" name="Group 12">
            <a:extLst>
              <a:ext uri="{FF2B5EF4-FFF2-40B4-BE49-F238E27FC236}">
                <a16:creationId xmlns:a16="http://schemas.microsoft.com/office/drawing/2014/main" id="{D9032B3C-5636-D2D6-5B39-7D8C9BC9BCE1}"/>
              </a:ext>
            </a:extLst>
          </p:cNvPr>
          <p:cNvGrpSpPr/>
          <p:nvPr/>
        </p:nvGrpSpPr>
        <p:grpSpPr>
          <a:xfrm>
            <a:off x="20361107" y="22115422"/>
            <a:ext cx="662841" cy="2100664"/>
            <a:chOff x="0" y="-38100"/>
            <a:chExt cx="406400" cy="444500"/>
          </a:xfrm>
        </p:grpSpPr>
        <p:sp>
          <p:nvSpPr>
            <p:cNvPr id="149" name="Freeform 13">
              <a:extLst>
                <a:ext uri="{FF2B5EF4-FFF2-40B4-BE49-F238E27FC236}">
                  <a16:creationId xmlns:a16="http://schemas.microsoft.com/office/drawing/2014/main" id="{257754BA-E025-2DA0-E6E3-62B93936657C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0" name="TextBox 14">
              <a:extLst>
                <a:ext uri="{FF2B5EF4-FFF2-40B4-BE49-F238E27FC236}">
                  <a16:creationId xmlns:a16="http://schemas.microsoft.com/office/drawing/2014/main" id="{05CB140D-F14B-3B59-823F-121775049CCB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51" name="Group 12">
            <a:extLst>
              <a:ext uri="{FF2B5EF4-FFF2-40B4-BE49-F238E27FC236}">
                <a16:creationId xmlns:a16="http://schemas.microsoft.com/office/drawing/2014/main" id="{B87DF432-28B8-D160-F9C0-AE815B905D49}"/>
              </a:ext>
            </a:extLst>
          </p:cNvPr>
          <p:cNvGrpSpPr/>
          <p:nvPr/>
        </p:nvGrpSpPr>
        <p:grpSpPr>
          <a:xfrm rot="5400000">
            <a:off x="22881761" y="27049074"/>
            <a:ext cx="662841" cy="2100664"/>
            <a:chOff x="0" y="-38100"/>
            <a:chExt cx="406400" cy="444500"/>
          </a:xfrm>
        </p:grpSpPr>
        <p:sp>
          <p:nvSpPr>
            <p:cNvPr id="152" name="Freeform 13">
              <a:extLst>
                <a:ext uri="{FF2B5EF4-FFF2-40B4-BE49-F238E27FC236}">
                  <a16:creationId xmlns:a16="http://schemas.microsoft.com/office/drawing/2014/main" id="{847BE66B-12F0-78F2-B0D6-E150FAA00A6E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3" name="TextBox 14">
              <a:extLst>
                <a:ext uri="{FF2B5EF4-FFF2-40B4-BE49-F238E27FC236}">
                  <a16:creationId xmlns:a16="http://schemas.microsoft.com/office/drawing/2014/main" id="{AA382B7F-B505-89F1-6E65-A850DB82A126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54" name="Rectangle : coins arrondis 153">
            <a:extLst>
              <a:ext uri="{FF2B5EF4-FFF2-40B4-BE49-F238E27FC236}">
                <a16:creationId xmlns:a16="http://schemas.microsoft.com/office/drawing/2014/main" id="{CBBFDB5F-701F-E620-5DE7-90EEF82EE08F}"/>
              </a:ext>
            </a:extLst>
          </p:cNvPr>
          <p:cNvSpPr/>
          <p:nvPr/>
        </p:nvSpPr>
        <p:spPr>
          <a:xfrm>
            <a:off x="20492755" y="34376643"/>
            <a:ext cx="7337572" cy="109011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grpSp>
        <p:nvGrpSpPr>
          <p:cNvPr id="155" name="Group 12">
            <a:extLst>
              <a:ext uri="{FF2B5EF4-FFF2-40B4-BE49-F238E27FC236}">
                <a16:creationId xmlns:a16="http://schemas.microsoft.com/office/drawing/2014/main" id="{36A4D0BE-3D3E-74D4-7E86-B5D50D440890}"/>
              </a:ext>
            </a:extLst>
          </p:cNvPr>
          <p:cNvGrpSpPr/>
          <p:nvPr/>
        </p:nvGrpSpPr>
        <p:grpSpPr>
          <a:xfrm rot="10800000">
            <a:off x="28443999" y="34442140"/>
            <a:ext cx="662841" cy="2100664"/>
            <a:chOff x="0" y="-38100"/>
            <a:chExt cx="406400" cy="444500"/>
          </a:xfrm>
        </p:grpSpPr>
        <p:sp>
          <p:nvSpPr>
            <p:cNvPr id="156" name="Freeform 13">
              <a:extLst>
                <a:ext uri="{FF2B5EF4-FFF2-40B4-BE49-F238E27FC236}">
                  <a16:creationId xmlns:a16="http://schemas.microsoft.com/office/drawing/2014/main" id="{8042D3D6-2B98-9636-F66B-A42BCB20A3F8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7" name="TextBox 14">
              <a:extLst>
                <a:ext uri="{FF2B5EF4-FFF2-40B4-BE49-F238E27FC236}">
                  <a16:creationId xmlns:a16="http://schemas.microsoft.com/office/drawing/2014/main" id="{F9560142-BC5E-D6D2-4705-C9D8A5766906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58" name="Rectangle : coins arrondis 157">
            <a:extLst>
              <a:ext uri="{FF2B5EF4-FFF2-40B4-BE49-F238E27FC236}">
                <a16:creationId xmlns:a16="http://schemas.microsoft.com/office/drawing/2014/main" id="{FD46F748-9F72-9D8E-776F-1D4C912D5E4D}"/>
              </a:ext>
            </a:extLst>
          </p:cNvPr>
          <p:cNvSpPr/>
          <p:nvPr/>
        </p:nvSpPr>
        <p:spPr>
          <a:xfrm>
            <a:off x="20960957" y="35860024"/>
            <a:ext cx="6773685" cy="569493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</a:t>
            </a:r>
            <a:r>
              <a:rPr lang="fr-FR" sz="3600" b="1" dirty="0" err="1">
                <a:latin typeface="Canva Sans Bold" panose="020B0604020202020204" charset="0"/>
              </a:rPr>
              <a:t>Coefficents</a:t>
            </a:r>
            <a:r>
              <a:rPr lang="fr-FR" sz="3600" b="1" dirty="0">
                <a:latin typeface="Canva Sans Bold" panose="020B0604020202020204" charset="0"/>
              </a:rPr>
              <a:t> Zernike</a:t>
            </a:r>
          </a:p>
        </p:txBody>
      </p:sp>
      <p:sp>
        <p:nvSpPr>
          <p:cNvPr id="159" name="Rectangle : coins arrondis 158">
            <a:extLst>
              <a:ext uri="{FF2B5EF4-FFF2-40B4-BE49-F238E27FC236}">
                <a16:creationId xmlns:a16="http://schemas.microsoft.com/office/drawing/2014/main" id="{6D478647-8A09-E558-AA6E-2DDFB34D0810}"/>
              </a:ext>
            </a:extLst>
          </p:cNvPr>
          <p:cNvSpPr/>
          <p:nvPr/>
        </p:nvSpPr>
        <p:spPr>
          <a:xfrm>
            <a:off x="22282476" y="39812499"/>
            <a:ext cx="5608300" cy="492443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Canva Sans Bold" panose="020B0604020202020204" charset="0"/>
              </a:rPr>
              <a:t>Calcul </a:t>
            </a:r>
            <a:r>
              <a:rPr lang="fr-FR" sz="2800" b="1" dirty="0" err="1">
                <a:latin typeface="Canva Sans Bold" panose="020B0604020202020204" charset="0"/>
              </a:rPr>
              <a:t>Coefficents</a:t>
            </a:r>
            <a:r>
              <a:rPr lang="fr-FR" sz="2800" b="1" dirty="0">
                <a:latin typeface="Canva Sans Bold" panose="020B0604020202020204" charset="0"/>
              </a:rPr>
              <a:t> Seidel</a:t>
            </a:r>
          </a:p>
        </p:txBody>
      </p: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01248AE3-2F10-FF89-AE15-F3D14FF6DAB3}"/>
              </a:ext>
            </a:extLst>
          </p:cNvPr>
          <p:cNvSpPr/>
          <p:nvPr/>
        </p:nvSpPr>
        <p:spPr>
          <a:xfrm>
            <a:off x="13003909" y="34376643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grpSp>
        <p:nvGrpSpPr>
          <p:cNvPr id="161" name="Group 12">
            <a:extLst>
              <a:ext uri="{FF2B5EF4-FFF2-40B4-BE49-F238E27FC236}">
                <a16:creationId xmlns:a16="http://schemas.microsoft.com/office/drawing/2014/main" id="{619338A4-8DC1-F038-91E4-D98592B82E96}"/>
              </a:ext>
            </a:extLst>
          </p:cNvPr>
          <p:cNvGrpSpPr/>
          <p:nvPr/>
        </p:nvGrpSpPr>
        <p:grpSpPr>
          <a:xfrm rot="10800000">
            <a:off x="12611022" y="38920462"/>
            <a:ext cx="662841" cy="2100664"/>
            <a:chOff x="0" y="-38100"/>
            <a:chExt cx="406400" cy="444500"/>
          </a:xfrm>
        </p:grpSpPr>
        <p:sp>
          <p:nvSpPr>
            <p:cNvPr id="162" name="Freeform 13">
              <a:extLst>
                <a:ext uri="{FF2B5EF4-FFF2-40B4-BE49-F238E27FC236}">
                  <a16:creationId xmlns:a16="http://schemas.microsoft.com/office/drawing/2014/main" id="{1897A1AA-9B2C-DC15-A69D-85A329C1C255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3" name="TextBox 14">
              <a:extLst>
                <a:ext uri="{FF2B5EF4-FFF2-40B4-BE49-F238E27FC236}">
                  <a16:creationId xmlns:a16="http://schemas.microsoft.com/office/drawing/2014/main" id="{E3C6C4E5-1ECA-2DDA-C37F-AFCDD719D89E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64" name="Rectangle : coins arrondis 163">
            <a:extLst>
              <a:ext uri="{FF2B5EF4-FFF2-40B4-BE49-F238E27FC236}">
                <a16:creationId xmlns:a16="http://schemas.microsoft.com/office/drawing/2014/main" id="{A3F25DD0-33E5-4EF3-E6E6-CD3698040566}"/>
              </a:ext>
            </a:extLst>
          </p:cNvPr>
          <p:cNvSpPr/>
          <p:nvPr/>
        </p:nvSpPr>
        <p:spPr>
          <a:xfrm>
            <a:off x="6223819" y="34341919"/>
            <a:ext cx="5839678" cy="610005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166" name="Rectangle : coins arrondis 165">
            <a:extLst>
              <a:ext uri="{FF2B5EF4-FFF2-40B4-BE49-F238E27FC236}">
                <a16:creationId xmlns:a16="http://schemas.microsoft.com/office/drawing/2014/main" id="{477530BC-AE3D-BCD3-CB90-504D01A288C2}"/>
              </a:ext>
            </a:extLst>
          </p:cNvPr>
          <p:cNvSpPr/>
          <p:nvPr/>
        </p:nvSpPr>
        <p:spPr>
          <a:xfrm>
            <a:off x="751810" y="32526318"/>
            <a:ext cx="4008853" cy="166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Seconde vie du </a:t>
            </a:r>
            <a:r>
              <a:rPr lang="fr-FR" sz="4400" b="1" dirty="0" err="1">
                <a:latin typeface="Canva Sans Bold" panose="020B0604020202020204" charset="0"/>
              </a:rPr>
              <a:t>Zygo</a:t>
            </a:r>
            <a:endParaRPr lang="fr-FR" sz="4400" b="1" dirty="0">
              <a:latin typeface="Canva Sans Bold" panose="020B0604020202020204" charset="0"/>
            </a:endParaRPr>
          </a:p>
        </p:txBody>
      </p:sp>
      <p:sp>
        <p:nvSpPr>
          <p:cNvPr id="167" name="TextBox 20">
            <a:extLst>
              <a:ext uri="{FF2B5EF4-FFF2-40B4-BE49-F238E27FC236}">
                <a16:creationId xmlns:a16="http://schemas.microsoft.com/office/drawing/2014/main" id="{502F0CF8-39F3-B918-8B13-6930B12952A8}"/>
              </a:ext>
            </a:extLst>
          </p:cNvPr>
          <p:cNvSpPr txBox="1"/>
          <p:nvPr/>
        </p:nvSpPr>
        <p:spPr>
          <a:xfrm>
            <a:off x="806627" y="34405957"/>
            <a:ext cx="3702667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Développement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permettant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prolongement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l’utilisation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d’un matériel déjà existent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garantissant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compatibilité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matérielle</a:t>
            </a:r>
            <a:r>
              <a:rPr lang="en-US" sz="3200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pérenne</a:t>
            </a:r>
            <a:endParaRPr lang="en-US" sz="32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spcBef>
                <a:spcPct val="0"/>
              </a:spcBef>
            </a:pPr>
            <a:endParaRPr lang="en-US" sz="3200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8" name="AutoShape 2">
            <a:extLst>
              <a:ext uri="{FF2B5EF4-FFF2-40B4-BE49-F238E27FC236}">
                <a16:creationId xmlns:a16="http://schemas.microsoft.com/office/drawing/2014/main" id="{399902B0-139D-70A5-33D8-A019E22809FA}"/>
              </a:ext>
            </a:extLst>
          </p:cNvPr>
          <p:cNvSpPr/>
          <p:nvPr/>
        </p:nvSpPr>
        <p:spPr>
          <a:xfrm flipV="1">
            <a:off x="5366556" y="33018452"/>
            <a:ext cx="0" cy="8002672"/>
          </a:xfrm>
          <a:prstGeom prst="line">
            <a:avLst/>
          </a:prstGeom>
          <a:ln w="114300" cap="flat">
            <a:solidFill>
              <a:srgbClr val="8096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9" name="TextBox 20">
            <a:extLst>
              <a:ext uri="{FF2B5EF4-FFF2-40B4-BE49-F238E27FC236}">
                <a16:creationId xmlns:a16="http://schemas.microsoft.com/office/drawing/2014/main" id="{1471B6B3-38C1-23A6-BAC2-B0C08E21151B}"/>
              </a:ext>
            </a:extLst>
          </p:cNvPr>
          <p:cNvSpPr txBox="1"/>
          <p:nvPr/>
        </p:nvSpPr>
        <p:spPr>
          <a:xfrm>
            <a:off x="751811" y="38805132"/>
            <a:ext cx="3757484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Nous ne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compterons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pas le (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faible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?)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nombre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requêtes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à des IA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génératives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dans le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bilan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00" i="1" dirty="0" err="1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carbone</a:t>
            </a:r>
            <a:r>
              <a:rPr lang="en-US" sz="2800" i="1" dirty="0">
                <a:solidFill>
                  <a:srgbClr val="0019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…</a:t>
            </a:r>
          </a:p>
          <a:p>
            <a:pPr algn="l">
              <a:spcBef>
                <a:spcPct val="0"/>
              </a:spcBef>
            </a:pPr>
            <a:endParaRPr lang="en-US" sz="2800" i="1" dirty="0">
              <a:solidFill>
                <a:srgbClr val="00193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F5F408E5-0811-F311-9B80-D2F5FA8FD1E7}"/>
              </a:ext>
            </a:extLst>
          </p:cNvPr>
          <p:cNvGrpSpPr/>
          <p:nvPr/>
        </p:nvGrpSpPr>
        <p:grpSpPr>
          <a:xfrm>
            <a:off x="20878101" y="13790374"/>
            <a:ext cx="662841" cy="1231107"/>
            <a:chOff x="0" y="0"/>
            <a:chExt cx="406400" cy="406400"/>
          </a:xfrm>
        </p:grpSpPr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4C3F30A4-B6E6-A377-4CCD-CA11AE941450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1C0460FF-8972-CE6A-6D9C-30B53F9A2CCD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A2EA1175-A998-A1D7-892A-828E59340203}"/>
              </a:ext>
            </a:extLst>
          </p:cNvPr>
          <p:cNvGrpSpPr/>
          <p:nvPr/>
        </p:nvGrpSpPr>
        <p:grpSpPr>
          <a:xfrm rot="5400000">
            <a:off x="24281603" y="6127154"/>
            <a:ext cx="523220" cy="1920607"/>
            <a:chOff x="0" y="0"/>
            <a:chExt cx="406400" cy="4064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480478-3239-C7D4-38CE-148BE35B980E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C1A603-35E1-6F45-F9FB-73AB0B61BE3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30670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</TotalTime>
  <Words>242</Words>
  <Application>Microsoft Office PowerPoint</Application>
  <PresentationFormat>Personnalisé</PresentationFormat>
  <Paragraphs>41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Canva Sans Bold</vt:lpstr>
      <vt:lpstr>Interstate-RegularCondensed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Baladi</dc:creator>
  <cp:lastModifiedBy>Julien VILLEMEJANE</cp:lastModifiedBy>
  <cp:revision>90</cp:revision>
  <cp:lastPrinted>2021-12-15T14:01:13Z</cp:lastPrinted>
  <dcterms:created xsi:type="dcterms:W3CDTF">2019-02-21T13:38:51Z</dcterms:created>
  <dcterms:modified xsi:type="dcterms:W3CDTF">2025-06-18T18:23:23Z</dcterms:modified>
</cp:coreProperties>
</file>